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Нүүр" id="{2f0254a2-3bf5-703c-4c96-5d512d8a7a46}">
          <p14:sldIdLst>
            <p14:sldId id="256"/>
          </p14:sldIdLst>
        </p14:section>
        <p14:section name="Introduction" id="{9862572a-24ad-10b2-b5c1-e961efdbbba5}">
          <p14:sldIdLst>
            <p14:sldId id="257"/>
          </p14:sldIdLst>
        </p14:section>
        <p14:section name="Data Understanding" id="{a09f32ba-f3de-9894-2268-02a942391a75}">
          <p14:sldIdLst>
            <p14:sldId id="258"/>
          </p14:sldIdLst>
        </p14:section>
        <p14:section name="Data Cleaning" id="{e69835c0-f10d-f3f5-b92b-90320158e0fe}">
          <p14:sldIdLst>
            <p14:sldId id="259"/>
          </p14:sldIdLst>
        </p14:section>
        <p14:section name="Ажиллах хүч" id="{d3433fa2-7d21-f7c7-6ef1-1624ca2ed232}">
          <p14:sldIdLst>
            <p14:sldId id="260"/>
            <p14:sldId id="261"/>
          </p14:sldIdLst>
        </p14:section>
        <p14:section name="Цалингийн тархалт" id="{23d9671c-d323-d70d-d993-85d4c5907118}">
          <p14:sldIdLst>
            <p14:sldId id="262"/>
            <p14:sldId id="263"/>
          </p14:sldIdLst>
        </p14:section>
        <p14:section name="Бүлгүүдээр" id="{3a1664a0-d259-58f9-626f-09f9d38b166b}">
          <p14:sldIdLst>
            <p14:sldId id="264"/>
            <p14:sldId id="265"/>
            <p14:sldId id="266"/>
          </p14:sldIdLst>
        </p14:section>
        <p14:section name="Дүгнэлт" id="{f2c47050-980a-745e-bd17-606410923370}">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B30"/>
                </a:solidFill>
                <a:latin typeface="+mn-lt"/>
              </a:defRPr>
            </a:pPr>
            <a:r>
              <a:rPr sz="1400" b="0" i="0" u="none" strike="noStrike">
                <a:solidFill>
                  <a:srgbClr val="1B2B30"/>
                </a:solidFill>
                <a:latin typeface="+mn-lt"/>
              </a:rPr>
              <a:t>Ажиллах хүчний оролцооны түвшин, %</a:t>
            </a:r>
          </a:p>
        </c:rich>
      </c:tx>
      <c:layout/>
      <c:overlay val="0"/>
    </c:title>
    <c:autoTitleDeleted val="0"/>
    <c:plotArea>
      <c:layout/>
      <c:barChart>
        <c:barDir val="col"/>
        <c:grouping val="clustered"/>
        <c:varyColors val="0"/>
        <c:ser>
          <c:idx val="0"/>
          <c:order val="0"/>
          <c:tx>
            <c:strRef>
              <c:f>Sheet1!$B$1</c:f>
              <c:strCache>
                <c:ptCount val="1"/>
                <c:pt idx="0">
                  <c:v>Оролцоо</c:v>
                </c:pt>
              </c:strCache>
            </c:strRef>
          </c:tx>
          <c:spPr>
            <a:solidFill>
              <a:srgbClr val="0F4C5C"/>
            </a:solidFill>
            <a:effectLst/>
          </c:spPr>
          <c:invertIfNegative val="0"/>
          <c:dLbls>
            <c:numFmt formatCode="0.0&quot;%&quot;" sourceLinked="0"/>
            <c:txPr>
              <a:bodyPr/>
              <a:lstStyle/>
              <a:p>
                <a:pPr>
                  <a:defRPr b="0" i="0" strike="noStrike" sz="1300" u="none">
                    <a:solidFill>
                      <a:srgbClr val="1B2B30"/>
                    </a:solidFill>
                    <a:latin typeface="+mn-lt"/>
                  </a:defRPr>
                </a:pPr>
              </a:p>
            </c:txPr>
            <c:showLegendKey val="0"/>
            <c:showVal val="1"/>
            <c:showCatName val="0"/>
            <c:showSerName val="0"/>
            <c:showPercent val="0"/>
            <c:showBubbleSize val="0"/>
            <c:showLeaderLines val="0"/>
          </c:dLbls>
          <c:dPt>
            <c:idx val="0"/>
            <c:invertIfNegative val="0"/>
            <c:bubble3D val="0"/>
            <c:spPr>
              <a:solidFill>
                <a:srgbClr val="0F4C5C"/>
              </a:solidFill>
              <a:effectLst/>
            </c:spPr>
          </c:dPt>
          <c:dPt>
            <c:idx val="1"/>
            <c:invertIfNegative val="0"/>
            <c:bubble3D val="0"/>
            <c:spPr>
              <a:solidFill>
                <a:srgbClr val="E36414"/>
              </a:solidFill>
              <a:effectLst/>
            </c:spPr>
          </c:dPt>
          <c:cat>
            <c:multiLvlStrRef>
              <c:f>Sheet1!$A$2:$A$3</c:f>
              <c:multiLvlStrCache>
                <c:ptCount val="2"/>
                <c:lvl>
                  <c:pt idx="0">
                    <c:v>Эрэгтэй</c:v>
                  </c:pt>
                  <c:pt idx="1">
                    <c:v>Эмэгтэй</c:v>
                  </c:pt>
                </c:lvl>
              </c:multiLvlStrCache>
            </c:multiLvlStrRef>
          </c:cat>
          <c:val>
            <c:numRef>
              <c:f>Sheet1!$B$2:$B$3</c:f>
              <c:numCache>
                <c:formatCode>General</c:formatCode>
                <c:ptCount val="2"/>
                <c:pt idx="0">
                  <c:v>68.5</c:v>
                </c:pt>
                <c:pt idx="1">
                  <c:v>53.5</c:v>
                </c:pt>
              </c:numCache>
            </c:numRef>
          </c:val>
        </c:ser>
        <c:dLbls>
          <c:numFmt formatCode="0.0&quot;%&quot;" sourceLinked="0"/>
          <c:txPr>
            <a:bodyPr/>
            <a:lstStyle/>
            <a:p>
              <a:pPr>
                <a:defRPr b="0" i="0" strike="noStrike" sz="1300" u="none">
                  <a:solidFill>
                    <a:srgbClr val="1B2B30"/>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5A6A6E"/>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l"/>
        <c:majorGridlines>
          <c:spPr>
            <a:ln w="9525" cap="flat">
              <a:solidFill>
                <a:srgbClr val="E1E6E7"/>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A6A6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B30"/>
                </a:solidFill>
                <a:latin typeface="+mn-lt"/>
              </a:defRPr>
            </a:pPr>
            <a:r>
              <a:rPr sz="1400" b="0" i="0" u="none" strike="noStrike">
                <a:solidFill>
                  <a:srgbClr val="1B2B30"/>
                </a:solidFill>
                <a:latin typeface="+mn-lt"/>
              </a:rPr>
              <a:t>Сарын цалингийн histogram (bins = 50)</a:t>
            </a:r>
          </a:p>
        </c:rich>
      </c:tx>
      <c:layout/>
      <c:overlay val="0"/>
    </c:title>
    <c:autoTitleDeleted val="0"/>
    <c:plotArea>
      <c:layout/>
      <c:barChart>
        <c:barDir val="col"/>
        <c:grouping val="clustered"/>
        <c:varyColors val="0"/>
        <c:ser>
          <c:idx val="0"/>
          <c:order val="0"/>
          <c:tx>
            <c:strRef>
              <c:f>Sheet1!$B$1</c:f>
              <c:strCache>
                <c:ptCount val="1"/>
                <c:pt idx="0">
                  <c:v>Хүний тоо</c:v>
                </c:pt>
              </c:strCache>
            </c:strRef>
          </c:tx>
          <c:spPr>
            <a:solidFill>
              <a:srgbClr val="0F4C5C"/>
            </a:solidFill>
            <a:effectLst/>
          </c:spPr>
          <c:invertIfNegative val="0"/>
          <c:dLbls>
            <c:numFmt formatCode="#,##0" sourceLinked="0"/>
            <c:txPr>
              <a:bodyPr/>
              <a:lstStyle/>
              <a:p>
                <a:pPr>
                  <a:defRPr b="0" i="0" strike="noStrike" sz="1300" u="none">
                    <a:solidFill>
                      <a:srgbClr val="1B2B30"/>
                    </a:solidFill>
                    <a:latin typeface="+mn-lt"/>
                  </a:defRPr>
                </a:pPr>
              </a:p>
            </c:txPr>
            <c:showLegendKey val="0"/>
            <c:showVal val="0"/>
            <c:showCatName val="0"/>
            <c:showSerName val="0"/>
            <c:showPercent val="0"/>
            <c:showBubbleSize val="0"/>
            <c:showLeaderLines val="0"/>
          </c:dLbls>
          <c:cat>
            <c:multiLvlStrRef>
              <c:f>Sheet1!$A$2:$A$51</c:f>
              <c:multiLvlStrCache>
                <c:ptCount val="50"/>
                <c:lvl>
                  <c:pt idx="0">
                    <c:v>0.3</c:v>
                  </c:pt>
                  <c:pt idx="1">
                    <c:v>0.5</c:v>
                  </c:pt>
                  <c:pt idx="2">
                    <c:v>0.8</c:v>
                  </c:pt>
                  <c:pt idx="3">
                    <c:v>1.0</c:v>
                  </c:pt>
                  <c:pt idx="4">
                    <c:v>1.3</c:v>
                  </c:pt>
                  <c:pt idx="5">
                    <c:v>1.5</c:v>
                  </c:pt>
                  <c:pt idx="6">
                    <c:v>1.8</c:v>
                  </c:pt>
                  <c:pt idx="7">
                    <c:v>2.0</c:v>
                  </c:pt>
                  <c:pt idx="8">
                    <c:v>2.3</c:v>
                  </c:pt>
                  <c:pt idx="9">
                    <c:v>2.5</c:v>
                  </c:pt>
                  <c:pt idx="10">
                    <c:v>2.8</c:v>
                  </c:pt>
                  <c:pt idx="11">
                    <c:v>3.0</c:v>
                  </c:pt>
                  <c:pt idx="12">
                    <c:v>3.3</c:v>
                  </c:pt>
                  <c:pt idx="13">
                    <c:v>3.5</c:v>
                  </c:pt>
                  <c:pt idx="14">
                    <c:v>3.8</c:v>
                  </c:pt>
                  <c:pt idx="15">
                    <c:v>4.0</c:v>
                  </c:pt>
                  <c:pt idx="16">
                    <c:v>4.2</c:v>
                  </c:pt>
                  <c:pt idx="17">
                    <c:v>4.5</c:v>
                  </c:pt>
                  <c:pt idx="18">
                    <c:v>4.7</c:v>
                  </c:pt>
                  <c:pt idx="19">
                    <c:v>5.0</c:v>
                  </c:pt>
                  <c:pt idx="20">
                    <c:v>5.2</c:v>
                  </c:pt>
                  <c:pt idx="21">
                    <c:v>5.5</c:v>
                  </c:pt>
                  <c:pt idx="22">
                    <c:v>5.7</c:v>
                  </c:pt>
                  <c:pt idx="23">
                    <c:v>6.0</c:v>
                  </c:pt>
                  <c:pt idx="24">
                    <c:v>6.2</c:v>
                  </c:pt>
                  <c:pt idx="25">
                    <c:v>6.5</c:v>
                  </c:pt>
                  <c:pt idx="26">
                    <c:v>6.7</c:v>
                  </c:pt>
                  <c:pt idx="27">
                    <c:v>7.0</c:v>
                  </c:pt>
                  <c:pt idx="28">
                    <c:v>7.2</c:v>
                  </c:pt>
                  <c:pt idx="29">
                    <c:v>7.4</c:v>
                  </c:pt>
                  <c:pt idx="30">
                    <c:v>7.7</c:v>
                  </c:pt>
                  <c:pt idx="31">
                    <c:v>7.9</c:v>
                  </c:pt>
                  <c:pt idx="32">
                    <c:v>8.2</c:v>
                  </c:pt>
                  <c:pt idx="33">
                    <c:v>8.4</c:v>
                  </c:pt>
                  <c:pt idx="34">
                    <c:v>8.7</c:v>
                  </c:pt>
                  <c:pt idx="35">
                    <c:v>8.9</c:v>
                  </c:pt>
                  <c:pt idx="36">
                    <c:v>9.2</c:v>
                  </c:pt>
                  <c:pt idx="37">
                    <c:v>9.4</c:v>
                  </c:pt>
                  <c:pt idx="38">
                    <c:v>9.7</c:v>
                  </c:pt>
                  <c:pt idx="39">
                    <c:v>9.9</c:v>
                  </c:pt>
                  <c:pt idx="40">
                    <c:v>10.2</c:v>
                  </c:pt>
                  <c:pt idx="41">
                    <c:v>10.4</c:v>
                  </c:pt>
                  <c:pt idx="42">
                    <c:v>10.7</c:v>
                  </c:pt>
                  <c:pt idx="43">
                    <c:v>10.9</c:v>
                  </c:pt>
                  <c:pt idx="44">
                    <c:v>11.1</c:v>
                  </c:pt>
                  <c:pt idx="45">
                    <c:v>11.4</c:v>
                  </c:pt>
                  <c:pt idx="46">
                    <c:v>11.6</c:v>
                  </c:pt>
                  <c:pt idx="47">
                    <c:v>11.9</c:v>
                  </c:pt>
                  <c:pt idx="48">
                    <c:v>12.1</c:v>
                  </c:pt>
                  <c:pt idx="49">
                    <c:v>12.4</c:v>
                  </c:pt>
                </c:lvl>
              </c:multiLvlStrCache>
            </c:multiLvlStrRef>
          </c:cat>
          <c:val>
            <c:numRef>
              <c:f>Sheet1!$B$2:$B$51</c:f>
              <c:numCache>
                <c:formatCode>General</c:formatCode>
                <c:ptCount val="50"/>
                <c:pt idx="0">
                  <c:v>52</c:v>
                </c:pt>
                <c:pt idx="1">
                  <c:v>148</c:v>
                </c:pt>
                <c:pt idx="2">
                  <c:v>711</c:v>
                </c:pt>
                <c:pt idx="3">
                  <c:v>1134</c:v>
                </c:pt>
                <c:pt idx="4">
                  <c:v>1387</c:v>
                </c:pt>
                <c:pt idx="5">
                  <c:v>1776</c:v>
                </c:pt>
                <c:pt idx="6">
                  <c:v>1190</c:v>
                </c:pt>
                <c:pt idx="7">
                  <c:v>1462</c:v>
                </c:pt>
                <c:pt idx="8">
                  <c:v>361</c:v>
                </c:pt>
                <c:pt idx="9">
                  <c:v>857</c:v>
                </c:pt>
                <c:pt idx="10">
                  <c:v>208</c:v>
                </c:pt>
                <c:pt idx="11">
                  <c:v>637</c:v>
                </c:pt>
                <c:pt idx="12">
                  <c:v>55</c:v>
                </c:pt>
                <c:pt idx="13">
                  <c:v>160</c:v>
                </c:pt>
                <c:pt idx="14">
                  <c:v>34</c:v>
                </c:pt>
                <c:pt idx="15">
                  <c:v>155</c:v>
                </c:pt>
                <c:pt idx="16">
                  <c:v>11</c:v>
                </c:pt>
                <c:pt idx="17">
                  <c:v>53</c:v>
                </c:pt>
                <c:pt idx="18">
                  <c:v>2</c:v>
                </c:pt>
                <c:pt idx="19">
                  <c:v>89</c:v>
                </c:pt>
                <c:pt idx="20">
                  <c:v>7</c:v>
                </c:pt>
                <c:pt idx="21">
                  <c:v>2</c:v>
                </c:pt>
                <c:pt idx="22">
                  <c:v>3</c:v>
                </c:pt>
                <c:pt idx="23">
                  <c:v>27</c:v>
                </c:pt>
                <c:pt idx="24">
                  <c:v>0</c:v>
                </c:pt>
                <c:pt idx="25">
                  <c:v>1</c:v>
                </c:pt>
                <c:pt idx="26">
                  <c:v>0</c:v>
                </c:pt>
                <c:pt idx="27">
                  <c:v>7</c:v>
                </c:pt>
                <c:pt idx="28">
                  <c:v>0</c:v>
                </c:pt>
                <c:pt idx="29">
                  <c:v>0</c:v>
                </c:pt>
                <c:pt idx="30">
                  <c:v>2</c:v>
                </c:pt>
                <c:pt idx="31">
                  <c:v>7</c:v>
                </c:pt>
                <c:pt idx="32">
                  <c:v>0</c:v>
                </c:pt>
                <c:pt idx="33">
                  <c:v>0</c:v>
                </c:pt>
                <c:pt idx="34">
                  <c:v>0</c:v>
                </c:pt>
                <c:pt idx="35">
                  <c:v>7</c:v>
                </c:pt>
                <c:pt idx="36">
                  <c:v>0</c:v>
                </c:pt>
                <c:pt idx="37">
                  <c:v>3</c:v>
                </c:pt>
                <c:pt idx="38">
                  <c:v>0</c:v>
                </c:pt>
                <c:pt idx="39">
                  <c:v>1</c:v>
                </c:pt>
                <c:pt idx="40">
                  <c:v>0</c:v>
                </c:pt>
                <c:pt idx="41">
                  <c:v>0</c:v>
                </c:pt>
                <c:pt idx="42">
                  <c:v>0</c:v>
                </c:pt>
                <c:pt idx="43">
                  <c:v>3</c:v>
                </c:pt>
                <c:pt idx="44">
                  <c:v>0</c:v>
                </c:pt>
                <c:pt idx="45">
                  <c:v>0</c:v>
                </c:pt>
                <c:pt idx="46">
                  <c:v>0</c:v>
                </c:pt>
                <c:pt idx="47">
                  <c:v>0</c:v>
                </c:pt>
                <c:pt idx="48">
                  <c:v>0</c:v>
                </c:pt>
                <c:pt idx="49">
                  <c:v>1</c:v>
                </c:pt>
              </c:numCache>
            </c:numRef>
          </c:val>
        </c:ser>
        <c:dLbls>
          <c:numFmt formatCode="#,##0" sourceLinked="0"/>
          <c:txPr>
            <a:bodyPr/>
            <a:lstStyle/>
            <a:p>
              <a:pPr>
                <a:defRPr b="0" i="0" strike="noStrike" sz="1300" u="none">
                  <a:solidFill>
                    <a:srgbClr val="1B2B30"/>
                  </a:solidFill>
                  <a:latin typeface="+mn-lt"/>
                </a:defRPr>
              </a:pPr>
            </a:p>
          </c:txPr>
          <c:showLegendKey val="0"/>
          <c:showVal val="0"/>
          <c:showCatName val="0"/>
          <c:showSerName val="0"/>
          <c:showPercent val="0"/>
          <c:showBubbleSize val="0"/>
          <c:showLeaderLines val="0"/>
        </c:dLbls>
        <c:gapWidth val="15"/>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A6A6E"/>
                    </a:solidFill>
                    <a:latin typeface="Arial"/>
                  </a:defRPr>
                </a:pPr>
                <a:r>
                  <a:rPr sz="1200" b="0" i="0" u="none" strike="noStrike">
                    <a:solidFill>
                      <a:srgbClr val="5A6A6E"/>
                    </a:solidFill>
                    <a:latin typeface="Arial"/>
                  </a:rPr>
                  <a:t>Сарын цалин, сая ₮ (баганын дунд цэг)</a:t>
                </a:r>
              </a:p>
            </c:rich>
          </c:tx>
          <c:layout/>
          <c:overlay val="0"/>
        </c:title>
        <c:numFmt formatCode="General" sourceLinked="1"/>
        <c:majorTickMark val="out"/>
        <c:minorTickMark val="none"/>
        <c:tickLblPos val="low"/>
        <c:spPr>
          <a:ln w="12700" cap="flat">
            <a:noFill/>
            <a:prstDash val="solid"/>
            <a:round/>
          </a:ln>
        </c:spPr>
        <c:txPr>
          <a:bodyPr/>
          <a:lstStyle/>
          <a:p>
            <a:pPr>
              <a:defRPr sz="1100" b="0" i="0" u="none" strike="noStrike">
                <a:solidFill>
                  <a:srgbClr val="5A6A6E"/>
                </a:solidFill>
                <a:latin typeface="+mn-lt"/>
              </a:defRPr>
            </a:pPr>
            <a:endParaRPr lang="en-US"/>
          </a:p>
        </c:txPr>
        <c:crossAx val="2094734552"/>
        <c:crosses val="autoZero"/>
        <c:auto val="1"/>
        <c:lblAlgn val="ctr"/>
        <c:noMultiLvlLbl val="1"/>
        <c:tickLblSkip val="5"/>
      </c:catAx>
      <c:valAx>
        <c:axId val="2094734552"/>
        <c:scaling>
          <c:orientation val="minMax"/>
        </c:scaling>
        <c:delete val="0"/>
        <c:axPos val="l"/>
        <c:majorGridlines>
          <c:spPr>
            <a:ln w="9525" cap="flat">
              <a:solidFill>
                <a:srgbClr val="E1E6E7"/>
              </a:solidFill>
              <a:prstDash val="solid"/>
              <a:round/>
            </a:ln>
          </c:spPr>
        </c:majorGridlines>
        <c:title>
          <c:tx>
            <c:rich>
              <a:bodyPr/>
              <a:lstStyle/>
              <a:p>
                <a:pPr>
                  <a:defRPr sz="1200" b="0" i="0" u="none" strike="noStrike">
                    <a:solidFill>
                      <a:srgbClr val="5A6A6E"/>
                    </a:solidFill>
                    <a:latin typeface="Arial"/>
                  </a:defRPr>
                </a:pPr>
                <a:r>
                  <a:rPr sz="1200" b="0" i="0" u="none" strike="noStrike">
                    <a:solidFill>
                      <a:srgbClr val="5A6A6E"/>
                    </a:solidFill>
                    <a:latin typeface="Arial"/>
                  </a:rPr>
                  <a:t>Хүний тоо</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5A6A6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B30"/>
                </a:solidFill>
                <a:latin typeface="+mn-lt"/>
              </a:defRPr>
            </a:pPr>
            <a:r>
              <a:rPr sz="1400" b="0" i="0" u="none" strike="noStrike">
                <a:solidFill>
                  <a:srgbClr val="1B2B30"/>
                </a:solidFill>
                <a:latin typeface="+mn-lt"/>
              </a:rPr>
              <a:t>Median сарын цалин, сая ₮</a:t>
            </a:r>
          </a:p>
        </c:rich>
      </c:tx>
      <c:layout/>
      <c:overlay val="0"/>
    </c:title>
    <c:autoTitleDeleted val="0"/>
    <c:plotArea>
      <c:layout/>
      <c:barChart>
        <c:barDir val="col"/>
        <c:grouping val="clustered"/>
        <c:varyColors val="0"/>
        <c:ser>
          <c:idx val="0"/>
          <c:order val="0"/>
          <c:tx>
            <c:strRef>
              <c:f>Sheet1!$B$1</c:f>
              <c:strCache>
                <c:ptCount val="1"/>
                <c:pt idx="0">
                  <c:v>Median</c:v>
                </c:pt>
              </c:strCache>
            </c:strRef>
          </c:tx>
          <c:spPr>
            <a:solidFill>
              <a:srgbClr val="0F4C5C"/>
            </a:solidFill>
            <a:effectLst/>
          </c:spPr>
          <c:invertIfNegative val="0"/>
          <c:dLbls>
            <c:numFmt formatCode="0.0" sourceLinked="0"/>
            <c:txPr>
              <a:bodyPr/>
              <a:lstStyle/>
              <a:p>
                <a:pPr>
                  <a:defRPr b="0" i="0" strike="noStrike" sz="1300" u="none">
                    <a:solidFill>
                      <a:srgbClr val="1B2B30"/>
                    </a:solidFill>
                    <a:latin typeface="+mn-lt"/>
                  </a:defRPr>
                </a:pPr>
              </a:p>
            </c:txPr>
            <c:showLegendKey val="0"/>
            <c:showVal val="1"/>
            <c:showCatName val="0"/>
            <c:showSerName val="0"/>
            <c:showPercent val="0"/>
            <c:showBubbleSize val="0"/>
            <c:showLeaderLines val="0"/>
          </c:dLbls>
          <c:dPt>
            <c:idx val="0"/>
            <c:invertIfNegative val="0"/>
            <c:bubble3D val="0"/>
            <c:spPr>
              <a:solidFill>
                <a:srgbClr val="0F4C5C"/>
              </a:solidFill>
              <a:effectLst/>
            </c:spPr>
          </c:dPt>
          <c:dPt>
            <c:idx val="1"/>
            <c:invertIfNegative val="0"/>
            <c:bubble3D val="0"/>
            <c:spPr>
              <a:solidFill>
                <a:srgbClr val="E36414"/>
              </a:solidFill>
              <a:effectLst/>
            </c:spPr>
          </c:dPt>
          <c:cat>
            <c:multiLvlStrRef>
              <c:f>Sheet1!$A$2:$A$3</c:f>
              <c:multiLvlStrCache>
                <c:ptCount val="2"/>
                <c:lvl>
                  <c:pt idx="0">
                    <c:v>Эрэгтэй</c:v>
                  </c:pt>
                  <c:pt idx="1">
                    <c:v>Эмэгтэй</c:v>
                  </c:pt>
                </c:lvl>
              </c:multiLvlStrCache>
            </c:multiLvlStrRef>
          </c:cat>
          <c:val>
            <c:numRef>
              <c:f>Sheet1!$B$2:$B$3</c:f>
              <c:numCache>
                <c:formatCode>General</c:formatCode>
                <c:ptCount val="2"/>
                <c:pt idx="0">
                  <c:v>2</c:v>
                </c:pt>
                <c:pt idx="1">
                  <c:v>1.5</c:v>
                </c:pt>
              </c:numCache>
            </c:numRef>
          </c:val>
        </c:ser>
        <c:dLbls>
          <c:numFmt formatCode="0.0" sourceLinked="0"/>
          <c:txPr>
            <a:bodyPr/>
            <a:lstStyle/>
            <a:p>
              <a:pPr>
                <a:defRPr b="0" i="0" strike="noStrike" sz="1300" u="none">
                  <a:solidFill>
                    <a:srgbClr val="1B2B30"/>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5A6A6E"/>
                </a:solidFill>
                <a:latin typeface="+mn-lt"/>
              </a:defRPr>
            </a:pPr>
            <a:endParaRPr lang="en-US"/>
          </a:p>
        </c:txPr>
        <c:crossAx val="2094734552"/>
        <c:crosses val="autoZero"/>
        <c:auto val="1"/>
        <c:lblAlgn val="ctr"/>
        <c:noMultiLvlLbl val="1"/>
      </c:catAx>
      <c:valAx>
        <c:axId val="2094734552"/>
        <c:scaling>
          <c:orientation val="minMax"/>
          <c:min val="0"/>
        </c:scaling>
        <c:delete val="1"/>
        <c:axPos val="l"/>
        <c:majorGridlines>
          <c:spPr>
            <a:ln w="9525" cap="flat">
              <a:solidFill>
                <a:srgbClr val="E1E6E7"/>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A6A6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B30"/>
                </a:solidFill>
                <a:latin typeface="+mn-lt"/>
              </a:defRPr>
            </a:pPr>
            <a:r>
              <a:rPr sz="1400" b="0" i="0" u="none" strike="noStrike">
                <a:solidFill>
                  <a:srgbClr val="1B2B30"/>
                </a:solidFill>
                <a:latin typeface="+mn-lt"/>
              </a:rPr>
              <a:t>Median сарын цалин, сая ₮ (n = хүний тоо)</a:t>
            </a:r>
          </a:p>
        </c:rich>
      </c:tx>
      <c:layout/>
      <c:overlay val="0"/>
    </c:title>
    <c:autoTitleDeleted val="0"/>
    <c:plotArea>
      <c:layout/>
      <c:barChart>
        <c:barDir val="bar"/>
        <c:grouping val="clustered"/>
        <c:varyColors val="0"/>
        <c:ser>
          <c:idx val="0"/>
          <c:order val="0"/>
          <c:tx>
            <c:strRef>
              <c:f>Sheet1!$B$1</c:f>
              <c:strCache>
                <c:ptCount val="1"/>
                <c:pt idx="0">
                  <c:v>Median</c:v>
                </c:pt>
              </c:strCache>
            </c:strRef>
          </c:tx>
          <c:spPr>
            <a:solidFill>
              <a:srgbClr val="9DB9BF"/>
            </a:solidFill>
            <a:effectLst/>
          </c:spPr>
          <c:invertIfNegative val="0"/>
          <c:dLbls>
            <c:numFmt formatCode="0.00" sourceLinked="0"/>
            <c:txPr>
              <a:bodyPr/>
              <a:lstStyle/>
              <a:p>
                <a:pPr>
                  <a:defRPr b="0" i="0" strike="noStrike" sz="1300" u="none">
                    <a:solidFill>
                      <a:srgbClr val="1B2B30"/>
                    </a:solidFill>
                    <a:latin typeface="+mn-lt"/>
                  </a:defRPr>
                </a:pPr>
              </a:p>
            </c:txPr>
            <c:showLegendKey val="0"/>
            <c:showVal val="1"/>
            <c:showCatName val="0"/>
            <c:showSerName val="0"/>
            <c:showPercent val="0"/>
            <c:showBubbleSize val="0"/>
            <c:showLeaderLines val="0"/>
          </c:dLbls>
          <c:dPt>
            <c:idx val="0"/>
            <c:invertIfNegative val="0"/>
            <c:bubble3D val="0"/>
            <c:spPr>
              <a:solidFill>
                <a:srgbClr val="9DB9BF"/>
              </a:solidFill>
              <a:effectLst/>
            </c:spPr>
          </c:dPt>
          <c:dPt>
            <c:idx val="1"/>
            <c:invertIfNegative val="0"/>
            <c:bubble3D val="0"/>
            <c:spPr>
              <a:solidFill>
                <a:srgbClr val="9DB9BF"/>
              </a:solidFill>
              <a:effectLst/>
            </c:spPr>
          </c:dPt>
          <c:dPt>
            <c:idx val="2"/>
            <c:invertIfNegative val="0"/>
            <c:bubble3D val="0"/>
            <c:spPr>
              <a:solidFill>
                <a:srgbClr val="9DB9BF"/>
              </a:solidFill>
              <a:effectLst/>
            </c:spPr>
          </c:dPt>
          <c:dPt>
            <c:idx val="3"/>
            <c:invertIfNegative val="0"/>
            <c:bubble3D val="0"/>
            <c:spPr>
              <a:solidFill>
                <a:srgbClr val="5F8F99"/>
              </a:solidFill>
              <a:effectLst/>
            </c:spPr>
          </c:dPt>
          <c:dPt>
            <c:idx val="4"/>
            <c:invertIfNegative val="0"/>
            <c:bubble3D val="0"/>
            <c:spPr>
              <a:solidFill>
                <a:srgbClr val="5F8F99"/>
              </a:solidFill>
              <a:effectLst/>
            </c:spPr>
          </c:dPt>
          <c:dPt>
            <c:idx val="5"/>
            <c:invertIfNegative val="0"/>
            <c:bubble3D val="0"/>
            <c:spPr>
              <a:solidFill>
                <a:srgbClr val="5F8F99"/>
              </a:solidFill>
              <a:effectLst/>
            </c:spPr>
          </c:dPt>
          <c:dPt>
            <c:idx val="6"/>
            <c:invertIfNegative val="0"/>
            <c:bubble3D val="0"/>
            <c:spPr>
              <a:solidFill>
                <a:srgbClr val="5F8F99"/>
              </a:solidFill>
              <a:effectLst/>
            </c:spPr>
          </c:dPt>
          <c:dPt>
            <c:idx val="7"/>
            <c:invertIfNegative val="0"/>
            <c:bubble3D val="0"/>
            <c:spPr>
              <a:solidFill>
                <a:srgbClr val="0F4C5C"/>
              </a:solidFill>
              <a:effectLst/>
            </c:spPr>
          </c:dPt>
          <c:dPt>
            <c:idx val="8"/>
            <c:invertIfNegative val="0"/>
            <c:bubble3D val="0"/>
            <c:spPr>
              <a:solidFill>
                <a:srgbClr val="0F4C5C"/>
              </a:solidFill>
              <a:effectLst/>
            </c:spPr>
          </c:dPt>
          <c:dPt>
            <c:idx val="9"/>
            <c:invertIfNegative val="0"/>
            <c:bubble3D val="0"/>
            <c:spPr>
              <a:solidFill>
                <a:srgbClr val="9DB9BF"/>
              </a:solidFill>
              <a:effectLst/>
            </c:spPr>
          </c:dPt>
          <c:cat>
            <c:multiLvlStrRef>
              <c:f>Sheet1!$A$2:$A$11</c:f>
              <c:multiLvlStrCache>
                <c:ptCount val="10"/>
                <c:lvl>
                  <c:pt idx="0">
                    <c:v>Боловсролгүй (n=106)</c:v>
                  </c:pt>
                  <c:pt idx="1">
                    <c:v>Бага (n=110)</c:v>
                  </c:pt>
                  <c:pt idx="2">
                    <c:v>Суурь (n=434)</c:v>
                  </c:pt>
                  <c:pt idx="3">
                    <c:v>Бүрэн дунд (n=1,138)</c:v>
                  </c:pt>
                  <c:pt idx="4">
                    <c:v>Техникийн болон мэргэжлийн (n=3,395)</c:v>
                  </c:pt>
                  <c:pt idx="5">
                    <c:v>Тусгай мэргэжлийн дунд (n=590)</c:v>
                  </c:pt>
                  <c:pt idx="6">
                    <c:v>Дипломын дээд (n=177)</c:v>
                  </c:pt>
                  <c:pt idx="7">
                    <c:v>Бакалаврын дээд (n=4,014)</c:v>
                  </c:pt>
                  <c:pt idx="8">
                    <c:v>Магистр (n=574)</c:v>
                  </c:pt>
                  <c:pt idx="9">
                    <c:v>Доктор (n=15)</c:v>
                  </c:pt>
                </c:lvl>
              </c:multiLvlStrCache>
            </c:multiLvlStrRef>
          </c:cat>
          <c:val>
            <c:numRef>
              <c:f>Sheet1!$B$2:$B$11</c:f>
              <c:numCache>
                <c:formatCode>General</c:formatCode>
                <c:ptCount val="10"/>
                <c:pt idx="0">
                  <c:v>1.1</c:v>
                </c:pt>
                <c:pt idx="1">
                  <c:v>1.2</c:v>
                </c:pt>
                <c:pt idx="2">
                  <c:v>1.095</c:v>
                </c:pt>
                <c:pt idx="3">
                  <c:v>1.3</c:v>
                </c:pt>
                <c:pt idx="4">
                  <c:v>1.6</c:v>
                </c:pt>
                <c:pt idx="5">
                  <c:v>1.5</c:v>
                </c:pt>
                <c:pt idx="6">
                  <c:v>1.6</c:v>
                </c:pt>
                <c:pt idx="7">
                  <c:v>1.8</c:v>
                </c:pt>
                <c:pt idx="8">
                  <c:v>2</c:v>
                </c:pt>
                <c:pt idx="9">
                  <c:v>2.8</c:v>
                </c:pt>
              </c:numCache>
            </c:numRef>
          </c:val>
        </c:ser>
        <c:dLbls>
          <c:numFmt formatCode="0.00" sourceLinked="0"/>
          <c:txPr>
            <a:bodyPr/>
            <a:lstStyle/>
            <a:p>
              <a:pPr>
                <a:defRPr b="0" i="0" strike="noStrike" sz="1300" u="none">
                  <a:solidFill>
                    <a:srgbClr val="1B2B30"/>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A6A6E"/>
                </a:solidFill>
                <a:latin typeface="+mn-lt"/>
              </a:defRPr>
            </a:pPr>
            <a:endParaRPr lang="en-US"/>
          </a:p>
        </c:txPr>
        <c:crossAx val="2094734552"/>
        <c:crosses val="autoZero"/>
        <c:auto val="1"/>
        <c:lblAlgn val="ctr"/>
        <c:noMultiLvlLbl val="1"/>
      </c:catAx>
      <c:valAx>
        <c:axId val="2094734552"/>
        <c:scaling>
          <c:orientation val="minMax"/>
          <c:min val="0"/>
        </c:scaling>
        <c:delete val="1"/>
        <c:axPos val="b"/>
        <c:majorGridlines>
          <c:spPr>
            <a:ln w="9525" cap="flat">
              <a:solidFill>
                <a:srgbClr val="E1E6E7"/>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100" b="0" i="0" u="none" strike="noStrike">
                <a:solidFill>
                  <a:srgbClr val="5A6A6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B30"/>
                </a:solidFill>
                <a:latin typeface="+mn-lt"/>
              </a:defRPr>
            </a:pPr>
            <a:r>
              <a:rPr sz="1400" b="0" i="0" u="none" strike="noStrike">
                <a:solidFill>
                  <a:srgbClr val="1B2B30"/>
                </a:solidFill>
                <a:latin typeface="+mn-lt"/>
              </a:rPr>
              <a:t>Median сарын цалин насны бүлгээр, сая ₮</a:t>
            </a:r>
          </a:p>
        </c:rich>
      </c:tx>
      <c:layout/>
      <c:overlay val="0"/>
    </c:title>
    <c:autoTitleDeleted val="0"/>
    <c:plotArea>
      <c:layout/>
      <c:barChart>
        <c:barDir val="col"/>
        <c:grouping val="clustered"/>
        <c:varyColors val="0"/>
        <c:ser>
          <c:idx val="0"/>
          <c:order val="0"/>
          <c:tx>
            <c:strRef>
              <c:f>Sheet1!$B$1</c:f>
              <c:strCache>
                <c:ptCount val="1"/>
                <c:pt idx="0">
                  <c:v>Median</c:v>
                </c:pt>
              </c:strCache>
            </c:strRef>
          </c:tx>
          <c:spPr>
            <a:solidFill>
              <a:srgbClr val="5F8F99"/>
            </a:solidFill>
            <a:effectLst/>
          </c:spPr>
          <c:invertIfNegative val="0"/>
          <c:dLbls>
            <c:numFmt formatCode="0.00" sourceLinked="0"/>
            <c:txPr>
              <a:bodyPr/>
              <a:lstStyle/>
              <a:p>
                <a:pPr>
                  <a:defRPr b="0" i="0" strike="noStrike" sz="1300" u="none">
                    <a:solidFill>
                      <a:srgbClr val="1B2B30"/>
                    </a:solidFill>
                    <a:latin typeface="+mn-lt"/>
                  </a:defRPr>
                </a:pPr>
              </a:p>
            </c:txPr>
            <c:showLegendKey val="0"/>
            <c:showVal val="1"/>
            <c:showCatName val="0"/>
            <c:showSerName val="0"/>
            <c:showPercent val="0"/>
            <c:showBubbleSize val="0"/>
            <c:showLeaderLines val="0"/>
          </c:dLbls>
          <c:dPt>
            <c:idx val="0"/>
            <c:invertIfNegative val="0"/>
            <c:bubble3D val="0"/>
            <c:spPr>
              <a:solidFill>
                <a:srgbClr val="5F8F99"/>
              </a:solidFill>
              <a:effectLst/>
            </c:spPr>
          </c:dPt>
          <c:dPt>
            <c:idx val="1"/>
            <c:invertIfNegative val="0"/>
            <c:bubble3D val="0"/>
            <c:spPr>
              <a:solidFill>
                <a:srgbClr val="0F4C5C"/>
              </a:solidFill>
              <a:effectLst/>
            </c:spPr>
          </c:dPt>
          <c:dPt>
            <c:idx val="2"/>
            <c:invertIfNegative val="0"/>
            <c:bubble3D val="0"/>
            <c:spPr>
              <a:solidFill>
                <a:srgbClr val="0F4C5C"/>
              </a:solidFill>
              <a:effectLst/>
            </c:spPr>
          </c:dPt>
          <c:dPt>
            <c:idx val="3"/>
            <c:invertIfNegative val="0"/>
            <c:bubble3D val="0"/>
            <c:spPr>
              <a:solidFill>
                <a:srgbClr val="5F8F99"/>
              </a:solidFill>
              <a:effectLst/>
            </c:spPr>
          </c:dPt>
          <c:dPt>
            <c:idx val="4"/>
            <c:invertIfNegative val="0"/>
            <c:bubble3D val="0"/>
            <c:spPr>
              <a:solidFill>
                <a:srgbClr val="5F8F99"/>
              </a:solidFill>
              <a:effectLst/>
            </c:spPr>
          </c:dPt>
          <c:dPt>
            <c:idx val="5"/>
            <c:invertIfNegative val="0"/>
            <c:bubble3D val="0"/>
            <c:spPr>
              <a:solidFill>
                <a:srgbClr val="9DB9BF"/>
              </a:solidFill>
              <a:effectLst/>
            </c:spPr>
          </c:dPt>
          <c:cat>
            <c:multiLvlStrRef>
              <c:f>Sheet1!$A$2:$A$7</c:f>
              <c:multiLvlStrCache>
                <c:ptCount val="6"/>
                <c:lvl>
                  <c:pt idx="0">
                    <c:v>15–24
n=948</c:v>
                  </c:pt>
                  <c:pt idx="1">
                    <c:v>25–34
n=2,876</c:v>
                  </c:pt>
                  <c:pt idx="2">
                    <c:v>35–44
n=3,442</c:v>
                  </c:pt>
                  <c:pt idx="3">
                    <c:v>45–54
n=2,396</c:v>
                  </c:pt>
                  <c:pt idx="4">
                    <c:v>55–64
n=823</c:v>
                  </c:pt>
                  <c:pt idx="5">
                    <c:v>65+
n=68</c:v>
                  </c:pt>
                </c:lvl>
              </c:multiLvlStrCache>
            </c:multiLvlStrRef>
          </c:cat>
          <c:val>
            <c:numRef>
              <c:f>Sheet1!$B$2:$B$7</c:f>
              <c:numCache>
                <c:formatCode>General</c:formatCode>
                <c:ptCount val="6"/>
                <c:pt idx="0">
                  <c:v>1.5</c:v>
                </c:pt>
                <c:pt idx="1">
                  <c:v>1.8</c:v>
                </c:pt>
                <c:pt idx="2">
                  <c:v>1.8</c:v>
                </c:pt>
                <c:pt idx="3">
                  <c:v>1.56</c:v>
                </c:pt>
                <c:pt idx="4">
                  <c:v>1.4</c:v>
                </c:pt>
                <c:pt idx="5">
                  <c:v>1</c:v>
                </c:pt>
              </c:numCache>
            </c:numRef>
          </c:val>
        </c:ser>
        <c:dLbls>
          <c:numFmt formatCode="0.00" sourceLinked="0"/>
          <c:txPr>
            <a:bodyPr/>
            <a:lstStyle/>
            <a:p>
              <a:pPr>
                <a:defRPr b="0" i="0" strike="noStrike" sz="1300" u="none">
                  <a:solidFill>
                    <a:srgbClr val="1B2B3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A6A6E"/>
                </a:solidFill>
                <a:latin typeface="+mn-lt"/>
              </a:defRPr>
            </a:pPr>
            <a:endParaRPr lang="en-US"/>
          </a:p>
        </c:txPr>
        <c:crossAx val="2094734552"/>
        <c:crosses val="autoZero"/>
        <c:auto val="1"/>
        <c:lblAlgn val="ctr"/>
        <c:noMultiLvlLbl val="1"/>
      </c:catAx>
      <c:valAx>
        <c:axId val="2094734552"/>
        <c:scaling>
          <c:orientation val="minMax"/>
          <c:min val="0"/>
        </c:scaling>
        <c:delete val="1"/>
        <c:axPos val="l"/>
        <c:majorGridlines>
          <c:spPr>
            <a:ln w="9525" cap="flat">
              <a:solidFill>
                <a:srgbClr val="E1E6E7"/>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A6A6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2801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429000"/>
            <a:ext cx="10698480" cy="14630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00800"/>
            <a:ext cx="10424160" cy="274320"/>
          </a:xfrm>
          <a:prstGeom prst="rect">
            <a:avLst/>
          </a:prstGeom>
          <a:noFill/>
          <a:ln/>
        </p:spPr>
        <p:txBody>
          <a:bodyPr wrap="square" lIns="0" tIns="0" rIns="0" bIns="0" rtlCol="0" anchor="ctr"/>
          <a:lstStyle/>
          <a:p>
            <a:pPr indent="0" marL="0">
              <a:buNone/>
            </a:pPr>
            <a:r>
              <a:rPr lang="en-US" sz="1000" dirty="0">
                <a:solidFill>
                  <a:schemeClr val="accent6"/>
                </a:solidFill>
              </a:rPr>
              <a:t>Эх сурвалж: ҮСХ, АХС-2025 микро өгөгдөл (nada.nso.mn). Бүх тоо жингүй (судалгаанд оролцогчдын дүн).</a:t>
            </a:r>
            <a:endParaRPr lang="en-US" sz="1000" dirty="0"/>
          </a:p>
        </p:txBody>
      </p:sp>
      <p:sp>
        <p:nvSpPr>
          <p:cNvPr id="3" name="Text 1"/>
          <p:cNvSpPr/>
          <p:nvPr>
            <p:ph idx="101" type="title" hasCustomPrompt="1"/>
          </p:nvPr>
        </p:nvSpPr>
        <p:spPr>
          <a:xfrm>
            <a:off x="548640" y="365760"/>
            <a:ext cx="11064240" cy="82296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280160"/>
          </a:xfrm>
          <a:prstGeom prst="rect">
            <a:avLst/>
          </a:prstGeom>
          <a:noFill/>
          <a:ln/>
        </p:spPr>
        <p:txBody>
          <a:bodyPr wrap="square" rtlCol="0" anchor="b"/>
          <a:lstStyle/>
          <a:p>
            <a:pPr algn="l" indent="0" marL="0">
              <a:buNone/>
            </a:pPr>
            <a:r>
              <a:rPr lang="en-US" sz="4400" b="1" dirty="0">
                <a:solidFill>
                  <a:schemeClr val="bg1"/>
                </a:solidFill>
              </a:rPr>
              <a:t>Ажиллах хүч ба цалин — 2025</a:t>
            </a:r>
            <a:endParaRPr lang="en-US" sz="4400" dirty="0"/>
          </a:p>
        </p:txBody>
      </p:sp>
      <p:sp>
        <p:nvSpPr>
          <p:cNvPr id="3" name="Text 0"/>
          <p:cNvSpPr/>
          <p:nvPr>
            <p:ph idx="101" type="body" hasCustomPrompt="1"/>
          </p:nvPr>
        </p:nvSpPr>
        <p:spPr>
          <a:xfrm>
            <a:off x="731520" y="3429000"/>
            <a:ext cx="10698480" cy="1463040"/>
          </a:xfrm>
          <a:prstGeom prst="rect">
            <a:avLst/>
          </a:prstGeom>
          <a:noFill/>
          <a:ln/>
        </p:spPr>
        <p:txBody>
          <a:bodyPr wrap="square" rtlCol="0" anchor="t"/>
          <a:lstStyle/>
          <a:p>
            <a:pPr algn="l" indent="0" marL="0">
              <a:buNone/>
            </a:pPr>
            <a:r>
              <a:rPr lang="en-US" sz="1800" dirty="0">
                <a:solidFill>
                  <a:schemeClr val="bg2"/>
                </a:solidFill>
              </a:rPr>
              <a:t>АХС-2025 микро өгөгдлийн дескриптив шинжилгээ</a:t>
            </a:r>
            <a:endParaRPr lang="en-US" sz="1800" dirty="0"/>
          </a:p>
          <a:p>
            <a:pPr algn="l" indent="0" marL="0">
              <a:buNone/>
            </a:pPr>
            <a:r>
              <a:rPr lang="en-US" sz="1400" dirty="0">
                <a:solidFill>
                  <a:schemeClr val="bg2"/>
                </a:solidFill>
              </a:rPr>
              <a:t>Б.Жавхлантөгс · AI Academy Asia · Data Analysis бие даалт</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3 судалгааны асуулт</a:t>
            </a:r>
            <a:endParaRPr lang="en-US" sz="3200" dirty="0"/>
          </a:p>
        </p:txBody>
      </p:sp>
      <p:sp>
        <p:nvSpPr>
          <p:cNvPr id="3" name="q1"/>
          <p:cNvSpPr/>
          <p:nvPr/>
        </p:nvSpPr>
        <p:spPr>
          <a:xfrm>
            <a:off x="548640" y="1554480"/>
            <a:ext cx="731520" cy="731520"/>
          </a:xfrm>
          <a:prstGeom prst="ellipse">
            <a:avLst/>
          </a:prstGeom>
          <a:solidFill>
            <a:schemeClr val="accent2"/>
          </a:solidFill>
          <a:ln w="12700">
            <a:solidFill>
              <a:schemeClr val="accent2"/>
            </a:solidFill>
            <a:prstDash val="solid"/>
          </a:ln>
        </p:spPr>
      </p:sp>
      <p:sp>
        <p:nvSpPr>
          <p:cNvPr id="4" name="Text 2"/>
          <p:cNvSpPr txBox="1"/>
          <p:nvPr/>
        </p:nvSpPr>
        <p:spPr>
          <a:xfrm>
            <a:off x="548640" y="155448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5" name="Text 3"/>
          <p:cNvSpPr txBox="1"/>
          <p:nvPr/>
        </p:nvSpPr>
        <p:spPr>
          <a:xfrm>
            <a:off x="1554480" y="1645920"/>
            <a:ext cx="7132320" cy="548640"/>
          </a:xfrm>
          <a:prstGeom prst="rect">
            <a:avLst/>
          </a:prstGeom>
          <a:noFill/>
          <a:ln/>
        </p:spPr>
        <p:txBody>
          <a:bodyPr wrap="square" lIns="0" tIns="0" rIns="0" bIns="0" rtlCol="0" anchor="ctr"/>
          <a:lstStyle/>
          <a:p>
            <a:pPr indent="0" marL="0">
              <a:buNone/>
            </a:pPr>
            <a:r>
              <a:rPr lang="en-US" sz="2000" dirty="0">
                <a:solidFill>
                  <a:schemeClr val="tx1"/>
                </a:solidFill>
              </a:rPr>
              <a:t>Ажиллах хүчний бүтэц ямар байна вэ?</a:t>
            </a:r>
            <a:endParaRPr lang="en-US" sz="2000" dirty="0"/>
          </a:p>
        </p:txBody>
      </p:sp>
      <p:sp>
        <p:nvSpPr>
          <p:cNvPr id="6" name="Text 4"/>
          <p:cNvSpPr txBox="1"/>
          <p:nvPr/>
        </p:nvSpPr>
        <p:spPr>
          <a:xfrm>
            <a:off x="8778240" y="1691640"/>
            <a:ext cx="2834640" cy="457200"/>
          </a:xfrm>
          <a:prstGeom prst="rect">
            <a:avLst/>
          </a:prstGeom>
          <a:noFill/>
          <a:ln/>
        </p:spPr>
        <p:txBody>
          <a:bodyPr wrap="square" lIns="0" tIns="0" rIns="0" bIns="0" rtlCol="0" anchor="ctr"/>
          <a:lstStyle/>
          <a:p>
            <a:pPr algn="r" indent="0" marL="0">
              <a:buNone/>
            </a:pPr>
            <a:r>
              <a:rPr lang="en-US" sz="1500" b="1" dirty="0">
                <a:solidFill>
                  <a:schemeClr val="accent2"/>
                </a:solidFill>
              </a:rPr>
              <a:t>Хийгдсэн</a:t>
            </a:r>
            <a:endParaRPr lang="en-US" sz="1500" dirty="0"/>
          </a:p>
        </p:txBody>
      </p:sp>
      <p:sp>
        <p:nvSpPr>
          <p:cNvPr id="7" name="q2"/>
          <p:cNvSpPr/>
          <p:nvPr/>
        </p:nvSpPr>
        <p:spPr>
          <a:xfrm>
            <a:off x="548640" y="2606040"/>
            <a:ext cx="731520" cy="731520"/>
          </a:xfrm>
          <a:prstGeom prst="ellipse">
            <a:avLst/>
          </a:prstGeom>
          <a:solidFill>
            <a:schemeClr val="accent2"/>
          </a:solidFill>
          <a:ln w="12700">
            <a:solidFill>
              <a:schemeClr val="accent2"/>
            </a:solidFill>
            <a:prstDash val="solid"/>
          </a:ln>
        </p:spPr>
      </p:sp>
      <p:sp>
        <p:nvSpPr>
          <p:cNvPr id="8" name="Text 6"/>
          <p:cNvSpPr txBox="1"/>
          <p:nvPr/>
        </p:nvSpPr>
        <p:spPr>
          <a:xfrm>
            <a:off x="548640" y="260604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9" name="Text 7"/>
          <p:cNvSpPr txBox="1"/>
          <p:nvPr/>
        </p:nvSpPr>
        <p:spPr>
          <a:xfrm>
            <a:off x="1554480" y="2697480"/>
            <a:ext cx="7132320" cy="548640"/>
          </a:xfrm>
          <a:prstGeom prst="rect">
            <a:avLst/>
          </a:prstGeom>
          <a:noFill/>
          <a:ln/>
        </p:spPr>
        <p:txBody>
          <a:bodyPr wrap="square" lIns="0" tIns="0" rIns="0" bIns="0" rtlCol="0" anchor="ctr"/>
          <a:lstStyle/>
          <a:p>
            <a:pPr indent="0" marL="0">
              <a:buNone/>
            </a:pPr>
            <a:r>
              <a:rPr lang="en-US" sz="2000" dirty="0">
                <a:solidFill>
                  <a:schemeClr val="tx1"/>
                </a:solidFill>
              </a:rPr>
              <a:t>Цалин хэрхэн тархсан бэ?</a:t>
            </a:r>
            <a:endParaRPr lang="en-US" sz="2000" dirty="0"/>
          </a:p>
        </p:txBody>
      </p:sp>
      <p:sp>
        <p:nvSpPr>
          <p:cNvPr id="10" name="Text 8"/>
          <p:cNvSpPr txBox="1"/>
          <p:nvPr/>
        </p:nvSpPr>
        <p:spPr>
          <a:xfrm>
            <a:off x="8778240" y="2743200"/>
            <a:ext cx="2834640" cy="457200"/>
          </a:xfrm>
          <a:prstGeom prst="rect">
            <a:avLst/>
          </a:prstGeom>
          <a:noFill/>
          <a:ln/>
        </p:spPr>
        <p:txBody>
          <a:bodyPr wrap="square" lIns="0" tIns="0" rIns="0" bIns="0" rtlCol="0" anchor="ctr"/>
          <a:lstStyle/>
          <a:p>
            <a:pPr algn="r" indent="0" marL="0">
              <a:buNone/>
            </a:pPr>
            <a:r>
              <a:rPr lang="en-US" sz="1500" b="1" dirty="0">
                <a:solidFill>
                  <a:schemeClr val="accent2"/>
                </a:solidFill>
              </a:rPr>
              <a:t>Хийгдсэн</a:t>
            </a:r>
            <a:endParaRPr lang="en-US" sz="1500" dirty="0"/>
          </a:p>
        </p:txBody>
      </p:sp>
      <p:sp>
        <p:nvSpPr>
          <p:cNvPr id="11" name="q3"/>
          <p:cNvSpPr/>
          <p:nvPr/>
        </p:nvSpPr>
        <p:spPr>
          <a:xfrm>
            <a:off x="548640" y="3657600"/>
            <a:ext cx="731520" cy="731520"/>
          </a:xfrm>
          <a:prstGeom prst="ellipse">
            <a:avLst/>
          </a:prstGeom>
          <a:solidFill>
            <a:schemeClr val="accent2"/>
          </a:solidFill>
          <a:ln w="12700">
            <a:solidFill>
              <a:schemeClr val="accent2"/>
            </a:solidFill>
            <a:prstDash val="solid"/>
          </a:ln>
        </p:spPr>
      </p:sp>
      <p:sp>
        <p:nvSpPr>
          <p:cNvPr id="12" name="Text 10"/>
          <p:cNvSpPr txBox="1"/>
          <p:nvPr/>
        </p:nvSpPr>
        <p:spPr>
          <a:xfrm>
            <a:off x="548640" y="365760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3" name="Text 11"/>
          <p:cNvSpPr txBox="1"/>
          <p:nvPr/>
        </p:nvSpPr>
        <p:spPr>
          <a:xfrm>
            <a:off x="1554480" y="3749040"/>
            <a:ext cx="7132320" cy="548640"/>
          </a:xfrm>
          <a:prstGeom prst="rect">
            <a:avLst/>
          </a:prstGeom>
          <a:noFill/>
          <a:ln/>
        </p:spPr>
        <p:txBody>
          <a:bodyPr wrap="square" lIns="0" tIns="0" rIns="0" bIns="0" rtlCol="0" anchor="ctr"/>
          <a:lstStyle/>
          <a:p>
            <a:pPr indent="0" marL="0">
              <a:buNone/>
            </a:pPr>
            <a:r>
              <a:rPr lang="en-US" sz="2000" dirty="0">
                <a:solidFill>
                  <a:schemeClr val="tx1"/>
                </a:solidFill>
              </a:rPr>
              <a:t>Цалин хүйс, нас, боловсролоор хэрхэн ялгаатай вэ?</a:t>
            </a:r>
            <a:endParaRPr lang="en-US" sz="2000" dirty="0"/>
          </a:p>
        </p:txBody>
      </p:sp>
      <p:sp>
        <p:nvSpPr>
          <p:cNvPr id="14" name="Text 12"/>
          <p:cNvSpPr txBox="1"/>
          <p:nvPr/>
        </p:nvSpPr>
        <p:spPr>
          <a:xfrm>
            <a:off x="8778240" y="3794760"/>
            <a:ext cx="2834640" cy="457200"/>
          </a:xfrm>
          <a:prstGeom prst="rect">
            <a:avLst/>
          </a:prstGeom>
          <a:noFill/>
          <a:ln/>
        </p:spPr>
        <p:txBody>
          <a:bodyPr wrap="square" lIns="0" tIns="0" rIns="0" bIns="0" rtlCol="0" anchor="ctr"/>
          <a:lstStyle/>
          <a:p>
            <a:pPr algn="r" indent="0" marL="0">
              <a:buNone/>
            </a:pPr>
            <a:r>
              <a:rPr lang="en-US" sz="1500" b="1" dirty="0">
                <a:solidFill>
                  <a:schemeClr val="accent2"/>
                </a:solidFill>
              </a:rPr>
              <a:t>Хийгдсэн</a:t>
            </a:r>
            <a:endParaRPr lang="en-US" sz="1500" dirty="0"/>
          </a:p>
        </p:txBody>
      </p:sp>
      <p:sp>
        <p:nvSpPr>
          <p:cNvPr id="15" name="rule"/>
          <p:cNvSpPr/>
          <p:nvPr/>
        </p:nvSpPr>
        <p:spPr>
          <a:xfrm>
            <a:off x="548640" y="4846320"/>
            <a:ext cx="11064240" cy="1188720"/>
          </a:xfrm>
          <a:prstGeom prst="roundRect">
            <a:avLst>
              <a:gd name="adj" fmla="val 9231"/>
            </a:avLst>
          </a:prstGeom>
          <a:solidFill>
            <a:schemeClr val="bg2"/>
          </a:solidFill>
          <a:ln w="12700">
            <a:solidFill>
              <a:schemeClr val="bg2"/>
            </a:solidFill>
            <a:prstDash val="solid"/>
          </a:ln>
        </p:spPr>
      </p:sp>
      <p:sp>
        <p:nvSpPr>
          <p:cNvPr id="16" name="Text 14"/>
          <p:cNvSpPr txBox="1"/>
          <p:nvPr/>
        </p:nvSpPr>
        <p:spPr>
          <a:xfrm>
            <a:off x="822960" y="5074920"/>
            <a:ext cx="10515600" cy="822960"/>
          </a:xfrm>
          <a:prstGeom prst="rect">
            <a:avLst/>
          </a:prstGeom>
          <a:noFill/>
          <a:ln/>
        </p:spPr>
        <p:txBody>
          <a:bodyPr wrap="square" lIns="0" tIns="0" rIns="0" bIns="0" rtlCol="0" anchor="t"/>
          <a:lstStyle/>
          <a:p>
            <a:pPr indent="0" marL="0">
              <a:buNone/>
            </a:pPr>
            <a:r>
              <a:rPr lang="en-US" sz="1500" b="1" dirty="0">
                <a:solidFill>
                  <a:schemeClr val="tx2"/>
                </a:solidFill>
              </a:rPr>
              <a:t>Зарчим: </a:t>
            </a:r>
            <a:pPr indent="0" marL="0">
              <a:buNone/>
            </a:pPr>
            <a:r>
              <a:rPr lang="en-US" sz="1500" dirty="0">
                <a:solidFill>
                  <a:schemeClr val="tx1"/>
                </a:solidFill>
              </a:rPr>
              <a:t>зөвхөн татаж авсан өгөгдөл, түүний асуулгын маягт ба DDI баримт бичгийг ашиглана. Хичээлийн хүрээнд: Pandas, дескриптив статистик, Matplotlib.</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Өгөгдөл: 50,811 хүн, 203 багана</a:t>
            </a:r>
            <a:endParaRPr lang="en-US" sz="3200" dirty="0"/>
          </a:p>
        </p:txBody>
      </p:sp>
      <p:graphicFrame>
        <p:nvGraphicFramePr>
          <p:cNvPr id="4" name="columns"/>
          <p:cNvGraphicFramePr>
            <a:graphicFrameLocks noGrp="1"/>
          </p:cNvGraphicFramePr>
          <p:nvPr>
            <p:extLst>
              <p:ext uri="{D42A27DB-BD31-4B8C-83A1-F6EECF244321}">
                <p14:modId xmlns:p14="http://schemas.microsoft.com/office/powerpoint/2010/main" val="1579011935"/>
              </p:ext>
            </p:extLst>
          </p:nvPr>
        </p:nvGraphicFramePr>
        <p:xfrm>
          <a:off x="548640" y="1417320"/>
          <a:ext cx="6400800" cy="914400"/>
        </p:xfrm>
        <a:graphic>
          <a:graphicData uri="http://schemas.openxmlformats.org/drawingml/2006/table">
            <a:tbl>
              <a:tblPr/>
              <a:tblGrid>
                <a:gridCol w="1737360"/>
                <a:gridCol w="3291840"/>
                <a:gridCol w="1371600"/>
              </a:tblGrid>
              <a:tr h="54864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Багана</a:t>
                      </a:r>
                      <a:endParaRPr lang="en-US" sz="14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Утга</a:t>
                      </a:r>
                      <a:endParaRPr lang="en-US" sz="14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Бөглөсөн</a:t>
                      </a:r>
                      <a:endParaRPr lang="en-US" sz="14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solidFill>
                      <a:schemeClr val="tx2"/>
                    </a:solidFill>
                  </a:tcPr>
                </a:tc>
              </a:tr>
              <a:tr h="548640">
                <a:tc>
                  <a:txBody>
                    <a:bodyPr/>
                    <a:lstStyle/>
                    <a:p>
                      <a:pPr indent="0" marL="0">
                        <a:buNone/>
                      </a:pPr>
                      <a:r>
                        <a:rPr lang="en-US" sz="1400" dirty="0">
                          <a:solidFill>
                            <a:srgbClr val="1B2B30"/>
                          </a:solidFill>
                          <a:latin typeface="Calibri" pitchFamily="34" charset="0"/>
                          <a:ea typeface="Calibri" pitchFamily="34" charset="-122"/>
                          <a:cs typeface="Calibri" pitchFamily="34" charset="-120"/>
                        </a:rPr>
                        <a:t>a03</a:t>
                      </a:r>
                      <a:endParaRPr lang="en-US" sz="14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tcPr>
                </a:tc>
                <a:tc>
                  <a:txBody>
                    <a:bodyPr/>
                    <a:lstStyle/>
                    <a:p>
                      <a:pPr indent="0" marL="0">
                        <a:buNone/>
                      </a:pPr>
                      <a:r>
                        <a:rPr lang="en-US" sz="1400" dirty="0">
                          <a:solidFill>
                            <a:srgbClr val="1B2B30"/>
                          </a:solidFill>
                          <a:latin typeface="Calibri" pitchFamily="34" charset="0"/>
                          <a:ea typeface="Calibri" pitchFamily="34" charset="-122"/>
                          <a:cs typeface="Calibri" pitchFamily="34" charset="-120"/>
                        </a:rPr>
                        <a:t>Хүйс</a:t>
                      </a:r>
                      <a:endParaRPr lang="en-US" sz="14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tcPr>
                </a:tc>
                <a:tc>
                  <a:txBody>
                    <a:bodyPr/>
                    <a:lstStyle/>
                    <a:p>
                      <a:pPr indent="0" marL="0">
                        <a:buNone/>
                      </a:pPr>
                      <a:r>
                        <a:rPr lang="en-US" sz="1400" dirty="0">
                          <a:solidFill>
                            <a:srgbClr val="1B2B30"/>
                          </a:solidFill>
                          <a:latin typeface="Calibri" pitchFamily="34" charset="0"/>
                          <a:ea typeface="Calibri" pitchFamily="34" charset="-122"/>
                          <a:cs typeface="Calibri" pitchFamily="34" charset="-120"/>
                        </a:rPr>
                        <a:t>50,811</a:t>
                      </a:r>
                      <a:endParaRPr lang="en-US" sz="14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tcPr>
                </a:tc>
              </a:tr>
              <a:tr h="548640">
                <a:tc>
                  <a:txBody>
                    <a:bodyPr/>
                    <a:lstStyle/>
                    <a:p>
                      <a:pPr indent="0" marL="0">
                        <a:buNone/>
                      </a:pPr>
                      <a:r>
                        <a:rPr lang="en-US" sz="1400" dirty="0">
                          <a:solidFill>
                            <a:srgbClr val="1B2B30"/>
                          </a:solidFill>
                          <a:latin typeface="Calibri" pitchFamily="34" charset="0"/>
                          <a:ea typeface="Calibri" pitchFamily="34" charset="-122"/>
                          <a:cs typeface="Calibri" pitchFamily="34" charset="-120"/>
                        </a:rPr>
                        <a:t>a05</a:t>
                      </a:r>
                      <a:endParaRPr lang="en-US" sz="14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tcPr>
                </a:tc>
                <a:tc>
                  <a:txBody>
                    <a:bodyPr/>
                    <a:lstStyle/>
                    <a:p>
                      <a:pPr indent="0" marL="0">
                        <a:buNone/>
                      </a:pPr>
                      <a:r>
                        <a:rPr lang="en-US" sz="1400" dirty="0">
                          <a:solidFill>
                            <a:srgbClr val="1B2B30"/>
                          </a:solidFill>
                          <a:latin typeface="Calibri" pitchFamily="34" charset="0"/>
                          <a:ea typeface="Calibri" pitchFamily="34" charset="-122"/>
                          <a:cs typeface="Calibri" pitchFamily="34" charset="-120"/>
                        </a:rPr>
                        <a:t>Нас</a:t>
                      </a:r>
                      <a:endParaRPr lang="en-US" sz="14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tcPr>
                </a:tc>
                <a:tc>
                  <a:txBody>
                    <a:bodyPr/>
                    <a:lstStyle/>
                    <a:p>
                      <a:pPr indent="0" marL="0">
                        <a:buNone/>
                      </a:pPr>
                      <a:r>
                        <a:rPr lang="en-US" sz="1400" dirty="0">
                          <a:solidFill>
                            <a:srgbClr val="1B2B30"/>
                          </a:solidFill>
                          <a:latin typeface="Calibri" pitchFamily="34" charset="0"/>
                          <a:ea typeface="Calibri" pitchFamily="34" charset="-122"/>
                          <a:cs typeface="Calibri" pitchFamily="34" charset="-120"/>
                        </a:rPr>
                        <a:t>50,811</a:t>
                      </a:r>
                      <a:endParaRPr lang="en-US" sz="14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tcPr>
                </a:tc>
              </a:tr>
              <a:tr h="548640">
                <a:tc>
                  <a:txBody>
                    <a:bodyPr/>
                    <a:lstStyle/>
                    <a:p>
                      <a:pPr indent="0" marL="0">
                        <a:buNone/>
                      </a:pPr>
                      <a:r>
                        <a:rPr lang="en-US" sz="1400" dirty="0">
                          <a:solidFill>
                            <a:srgbClr val="1B2B30"/>
                          </a:solidFill>
                          <a:latin typeface="Calibri" pitchFamily="34" charset="0"/>
                          <a:ea typeface="Calibri" pitchFamily="34" charset="-122"/>
                          <a:cs typeface="Calibri" pitchFamily="34" charset="-120"/>
                        </a:rPr>
                        <a:t>a28</a:t>
                      </a:r>
                      <a:endParaRPr lang="en-US" sz="14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tcPr>
                </a:tc>
                <a:tc>
                  <a:txBody>
                    <a:bodyPr/>
                    <a:lstStyle/>
                    <a:p>
                      <a:pPr indent="0" marL="0">
                        <a:buNone/>
                      </a:pPr>
                      <a:r>
                        <a:rPr lang="en-US" sz="1400" dirty="0">
                          <a:solidFill>
                            <a:srgbClr val="1B2B30"/>
                          </a:solidFill>
                          <a:latin typeface="Calibri" pitchFamily="34" charset="0"/>
                          <a:ea typeface="Calibri" pitchFamily="34" charset="-122"/>
                          <a:cs typeface="Calibri" pitchFamily="34" charset="-120"/>
                        </a:rPr>
                        <a:t>Боловсролын түвшин</a:t>
                      </a:r>
                      <a:endParaRPr lang="en-US" sz="14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tcPr>
                </a:tc>
                <a:tc>
                  <a:txBody>
                    <a:bodyPr/>
                    <a:lstStyle/>
                    <a:p>
                      <a:pPr indent="0" marL="0">
                        <a:buNone/>
                      </a:pPr>
                      <a:r>
                        <a:rPr lang="en-US" sz="1400" dirty="0">
                          <a:solidFill>
                            <a:srgbClr val="1B2B30"/>
                          </a:solidFill>
                          <a:latin typeface="Calibri" pitchFamily="34" charset="0"/>
                          <a:ea typeface="Calibri" pitchFamily="34" charset="-122"/>
                          <a:cs typeface="Calibri" pitchFamily="34" charset="-120"/>
                        </a:rPr>
                        <a:t>33,931</a:t>
                      </a:r>
                      <a:endParaRPr lang="en-US" sz="14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tcPr>
                </a:tc>
              </a:tr>
              <a:tr h="548640">
                <a:tc>
                  <a:txBody>
                    <a:bodyPr/>
                    <a:lstStyle/>
                    <a:p>
                      <a:pPr indent="0" marL="0">
                        <a:buNone/>
                      </a:pPr>
                      <a:r>
                        <a:rPr lang="en-US" sz="1400" dirty="0">
                          <a:solidFill>
                            <a:srgbClr val="1B2B30"/>
                          </a:solidFill>
                          <a:latin typeface="Calibri" pitchFamily="34" charset="0"/>
                          <a:ea typeface="Calibri" pitchFamily="34" charset="-122"/>
                          <a:cs typeface="Calibri" pitchFamily="34" charset="-120"/>
                        </a:rPr>
                        <a:t>e04</a:t>
                      </a:r>
                      <a:endParaRPr lang="en-US" sz="14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tcPr>
                </a:tc>
                <a:tc>
                  <a:txBody>
                    <a:bodyPr/>
                    <a:lstStyle/>
                    <a:p>
                      <a:pPr indent="0" marL="0">
                        <a:buNone/>
                      </a:pPr>
                      <a:r>
                        <a:rPr lang="en-US" sz="1400" dirty="0">
                          <a:solidFill>
                            <a:srgbClr val="1B2B30"/>
                          </a:solidFill>
                          <a:latin typeface="Calibri" pitchFamily="34" charset="0"/>
                          <a:ea typeface="Calibri" pitchFamily="34" charset="-122"/>
                          <a:cs typeface="Calibri" pitchFamily="34" charset="-120"/>
                        </a:rPr>
                        <a:t>Хөдөлмөр эрхлэлтийн статус</a:t>
                      </a:r>
                      <a:endParaRPr lang="en-US" sz="14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tcPr>
                </a:tc>
                <a:tc>
                  <a:txBody>
                    <a:bodyPr/>
                    <a:lstStyle/>
                    <a:p>
                      <a:pPr indent="0" marL="0">
                        <a:buNone/>
                      </a:pPr>
                      <a:r>
                        <a:rPr lang="en-US" sz="1400" dirty="0">
                          <a:solidFill>
                            <a:srgbClr val="1B2B30"/>
                          </a:solidFill>
                          <a:latin typeface="Calibri" pitchFamily="34" charset="0"/>
                          <a:ea typeface="Calibri" pitchFamily="34" charset="-122"/>
                          <a:cs typeface="Calibri" pitchFamily="34" charset="-120"/>
                        </a:rPr>
                        <a:t>19,567</a:t>
                      </a:r>
                      <a:endParaRPr lang="en-US" sz="14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tcPr>
                </a:tc>
              </a:tr>
              <a:tr h="548640">
                <a:tc>
                  <a:txBody>
                    <a:bodyPr/>
                    <a:lstStyle/>
                    <a:p>
                      <a:pPr indent="0" marL="0">
                        <a:buNone/>
                      </a:pPr>
                      <a:r>
                        <a:rPr lang="en-US" sz="1400" dirty="0">
                          <a:solidFill>
                            <a:srgbClr val="1B2B30"/>
                          </a:solidFill>
                          <a:latin typeface="Calibri" pitchFamily="34" charset="0"/>
                          <a:ea typeface="Calibri" pitchFamily="34" charset="-122"/>
                          <a:cs typeface="Calibri" pitchFamily="34" charset="-120"/>
                        </a:rPr>
                        <a:t>f02</a:t>
                      </a:r>
                      <a:endParaRPr lang="en-US" sz="14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tcPr>
                </a:tc>
                <a:tc>
                  <a:txBody>
                    <a:bodyPr/>
                    <a:lstStyle/>
                    <a:p>
                      <a:pPr indent="0" marL="0">
                        <a:buNone/>
                      </a:pPr>
                      <a:r>
                        <a:rPr lang="en-US" sz="1400" dirty="0">
                          <a:solidFill>
                            <a:srgbClr val="1B2B30"/>
                          </a:solidFill>
                          <a:latin typeface="Calibri" pitchFamily="34" charset="0"/>
                          <a:ea typeface="Calibri" pitchFamily="34" charset="-122"/>
                          <a:cs typeface="Calibri" pitchFamily="34" charset="-120"/>
                        </a:rPr>
                        <a:t>Сүүлд авсан цалин (мянган ₮)</a:t>
                      </a:r>
                      <a:endParaRPr lang="en-US" sz="14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tcPr>
                </a:tc>
                <a:tc>
                  <a:txBody>
                    <a:bodyPr/>
                    <a:lstStyle/>
                    <a:p>
                      <a:pPr indent="0" marL="0">
                        <a:buNone/>
                      </a:pPr>
                      <a:r>
                        <a:rPr lang="en-US" sz="1400" dirty="0">
                          <a:solidFill>
                            <a:srgbClr val="1B2B30"/>
                          </a:solidFill>
                          <a:latin typeface="Calibri" pitchFamily="34" charset="0"/>
                          <a:ea typeface="Calibri" pitchFamily="34" charset="-122"/>
                          <a:cs typeface="Calibri" pitchFamily="34" charset="-120"/>
                        </a:rPr>
                        <a:t>10,703</a:t>
                      </a:r>
                      <a:endParaRPr lang="en-US" sz="14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tcPr>
                </a:tc>
              </a:tr>
              <a:tr h="548640">
                <a:tc>
                  <a:txBody>
                    <a:bodyPr/>
                    <a:lstStyle/>
                    <a:p>
                      <a:pPr indent="0" marL="0">
                        <a:buNone/>
                      </a:pPr>
                      <a:r>
                        <a:rPr lang="en-US" sz="1400" dirty="0">
                          <a:solidFill>
                            <a:srgbClr val="1B2B30"/>
                          </a:solidFill>
                          <a:latin typeface="Calibri" pitchFamily="34" charset="0"/>
                          <a:ea typeface="Calibri" pitchFamily="34" charset="-122"/>
                          <a:cs typeface="Calibri" pitchFamily="34" charset="-120"/>
                        </a:rPr>
                        <a:t>f03</a:t>
                      </a:r>
                      <a:endParaRPr lang="en-US" sz="14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tcPr>
                </a:tc>
                <a:tc>
                  <a:txBody>
                    <a:bodyPr/>
                    <a:lstStyle/>
                    <a:p>
                      <a:pPr indent="0" marL="0">
                        <a:buNone/>
                      </a:pPr>
                      <a:r>
                        <a:rPr lang="en-US" sz="1400" dirty="0">
                          <a:solidFill>
                            <a:srgbClr val="1B2B30"/>
                          </a:solidFill>
                          <a:latin typeface="Calibri" pitchFamily="34" charset="0"/>
                          <a:ea typeface="Calibri" pitchFamily="34" charset="-122"/>
                          <a:cs typeface="Calibri" pitchFamily="34" charset="-120"/>
                        </a:rPr>
                        <a:t>Цалингийн хугацаа</a:t>
                      </a:r>
                      <a:endParaRPr lang="en-US" sz="14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tcPr>
                </a:tc>
                <a:tc>
                  <a:txBody>
                    <a:bodyPr/>
                    <a:lstStyle/>
                    <a:p>
                      <a:pPr indent="0" marL="0">
                        <a:buNone/>
                      </a:pPr>
                      <a:r>
                        <a:rPr lang="en-US" sz="1400" dirty="0">
                          <a:solidFill>
                            <a:srgbClr val="1B2B30"/>
                          </a:solidFill>
                          <a:latin typeface="Calibri" pitchFamily="34" charset="0"/>
                          <a:ea typeface="Calibri" pitchFamily="34" charset="-122"/>
                          <a:cs typeface="Calibri" pitchFamily="34" charset="-120"/>
                        </a:rPr>
                        <a:t>10,703</a:t>
                      </a:r>
                      <a:endParaRPr lang="en-US" sz="14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tcPr>
                </a:tc>
              </a:tr>
              <a:tr h="548640">
                <a:tc>
                  <a:txBody>
                    <a:bodyPr/>
                    <a:lstStyle/>
                    <a:p>
                      <a:pPr indent="0" marL="0">
                        <a:buNone/>
                      </a:pPr>
                      <a:r>
                        <a:rPr lang="en-US" sz="1400" dirty="0">
                          <a:solidFill>
                            <a:srgbClr val="1B2B30"/>
                          </a:solidFill>
                          <a:latin typeface="Calibri" pitchFamily="34" charset="0"/>
                          <a:ea typeface="Calibri" pitchFamily="34" charset="-122"/>
                          <a:cs typeface="Calibri" pitchFamily="34" charset="-120"/>
                        </a:rPr>
                        <a:t>weight_cal_y</a:t>
                      </a:r>
                      <a:endParaRPr lang="en-US" sz="14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tcPr>
                </a:tc>
                <a:tc>
                  <a:txBody>
                    <a:bodyPr/>
                    <a:lstStyle/>
                    <a:p>
                      <a:pPr indent="0" marL="0">
                        <a:buNone/>
                      </a:pPr>
                      <a:r>
                        <a:rPr lang="en-US" sz="1400" dirty="0">
                          <a:solidFill>
                            <a:srgbClr val="1B2B30"/>
                          </a:solidFill>
                          <a:latin typeface="Calibri" pitchFamily="34" charset="0"/>
                          <a:ea typeface="Calibri" pitchFamily="34" charset="-122"/>
                          <a:cs typeface="Calibri" pitchFamily="34" charset="-120"/>
                        </a:rPr>
                        <a:t>Жин (15+ нас)</a:t>
                      </a:r>
                      <a:endParaRPr lang="en-US" sz="14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tcPr>
                </a:tc>
                <a:tc>
                  <a:txBody>
                    <a:bodyPr/>
                    <a:lstStyle/>
                    <a:p>
                      <a:pPr indent="0" marL="0">
                        <a:buNone/>
                      </a:pPr>
                      <a:r>
                        <a:rPr lang="en-US" sz="1400" dirty="0">
                          <a:solidFill>
                            <a:srgbClr val="1B2B30"/>
                          </a:solidFill>
                          <a:latin typeface="Calibri" pitchFamily="34" charset="0"/>
                          <a:ea typeface="Calibri" pitchFamily="34" charset="-122"/>
                          <a:cs typeface="Calibri" pitchFamily="34" charset="-120"/>
                        </a:rPr>
                        <a:t>34,404</a:t>
                      </a:r>
                      <a:endParaRPr lang="en-US" sz="14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tcPr>
                </a:tc>
              </a:tr>
            </a:tbl>
          </a:graphicData>
        </a:graphic>
      </p:graphicFrame>
      <p:sp>
        <p:nvSpPr>
          <p:cNvPr id="4" name="takeaway"/>
          <p:cNvSpPr/>
          <p:nvPr/>
        </p:nvSpPr>
        <p:spPr>
          <a:xfrm>
            <a:off x="7315200" y="1417320"/>
            <a:ext cx="4297680" cy="4389120"/>
          </a:xfrm>
          <a:prstGeom prst="roundRect">
            <a:avLst>
              <a:gd name="adj" fmla="val 2553"/>
            </a:avLst>
          </a:prstGeom>
          <a:solidFill>
            <a:schemeClr val="bg2"/>
          </a:solidFill>
          <a:ln w="12700">
            <a:solidFill>
              <a:schemeClr val="bg2"/>
            </a:solidFill>
            <a:prstDash val="solid"/>
          </a:ln>
        </p:spPr>
      </p:sp>
      <p:sp>
        <p:nvSpPr>
          <p:cNvPr id="5" name="Text 2"/>
          <p:cNvSpPr txBox="1"/>
          <p:nvPr/>
        </p:nvSpPr>
        <p:spPr>
          <a:xfrm>
            <a:off x="7589520" y="1645920"/>
            <a:ext cx="3749040" cy="365760"/>
          </a:xfrm>
          <a:prstGeom prst="rect">
            <a:avLst/>
          </a:prstGeom>
          <a:noFill/>
          <a:ln/>
        </p:spPr>
        <p:txBody>
          <a:bodyPr wrap="square" lIns="0" tIns="0" rIns="0" bIns="0" rtlCol="0" anchor="t"/>
          <a:lstStyle/>
          <a:p>
            <a:pPr indent="0" marL="0">
              <a:buNone/>
            </a:pPr>
            <a:r>
              <a:rPr lang="en-US" sz="1800" b="1" dirty="0">
                <a:solidFill>
                  <a:schemeClr val="tx2"/>
                </a:solidFill>
              </a:rPr>
              <a:t>Гол ойлголт</a:t>
            </a:r>
            <a:endParaRPr lang="en-US" sz="1800" dirty="0"/>
          </a:p>
        </p:txBody>
      </p:sp>
      <p:sp>
        <p:nvSpPr>
          <p:cNvPr id="6" name="Text 3"/>
          <p:cNvSpPr txBox="1"/>
          <p:nvPr/>
        </p:nvSpPr>
        <p:spPr>
          <a:xfrm>
            <a:off x="7589520" y="2148840"/>
            <a:ext cx="3794760" cy="3474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Нэг мөр = өрхийн нэг гишүүн</a:t>
            </a:r>
            <a:endParaRPr lang="en-US" sz="1500" dirty="0"/>
          </a:p>
          <a:p>
            <a:pPr marL="342900" indent="-342900">
              <a:spcAft>
                <a:spcPts val="800"/>
              </a:spcAft>
              <a:buSzPct val="100000"/>
              <a:buChar char="•"/>
            </a:pPr>
            <a:r>
              <a:rPr lang="en-US" sz="1500" dirty="0">
                <a:solidFill>
                  <a:schemeClr val="tx1"/>
                </a:solidFill>
              </a:rPr>
              <a:t>Цалинг зөвхөн цалин хөлстэй ажиллагчдаас асуусан</a:t>
            </a:r>
            <a:endParaRPr lang="en-US" sz="1500" dirty="0"/>
          </a:p>
          <a:p>
            <a:pPr marL="342900" indent="-342900">
              <a:spcAft>
                <a:spcPts val="800"/>
              </a:spcAft>
              <a:buSzPct val="100000"/>
              <a:buChar char="•"/>
            </a:pPr>
            <a:r>
              <a:rPr lang="en-US" sz="1500" dirty="0">
                <a:solidFill>
                  <a:schemeClr val="tx1"/>
                </a:solidFill>
              </a:rPr>
              <a:t>Иймд хоосон утга нь алдаа биш, асуулгын бүтэц</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Цэвэрлэгээ: 10,703 → 10,553</a:t>
            </a:r>
            <a:endParaRPr lang="en-US" sz="3200" dirty="0"/>
          </a:p>
        </p:txBody>
      </p:sp>
      <p:sp>
        <p:nvSpPr>
          <p:cNvPr id="3" name="step0"/>
          <p:cNvSpPr/>
          <p:nvPr/>
        </p:nvSpPr>
        <p:spPr>
          <a:xfrm>
            <a:off x="548640" y="1417320"/>
            <a:ext cx="11064240" cy="749808"/>
          </a:xfrm>
          <a:prstGeom prst="roundRect">
            <a:avLst>
              <a:gd name="adj" fmla="val 14634"/>
            </a:avLst>
          </a:prstGeom>
          <a:solidFill>
            <a:schemeClr val="bg2"/>
          </a:solidFill>
          <a:ln w="12700">
            <a:solidFill>
              <a:schemeClr val="bg2"/>
            </a:solidFill>
            <a:prstDash val="solid"/>
          </a:ln>
        </p:spPr>
      </p:sp>
      <p:sp>
        <p:nvSpPr>
          <p:cNvPr id="4" name="Text 2"/>
          <p:cNvSpPr txBox="1"/>
          <p:nvPr/>
        </p:nvSpPr>
        <p:spPr>
          <a:xfrm>
            <a:off x="822960" y="1600200"/>
            <a:ext cx="2926080" cy="411480"/>
          </a:xfrm>
          <a:prstGeom prst="rect">
            <a:avLst/>
          </a:prstGeom>
          <a:noFill/>
          <a:ln/>
        </p:spPr>
        <p:txBody>
          <a:bodyPr wrap="square" lIns="0" tIns="0" rIns="0" bIns="0" rtlCol="0" anchor="ctr"/>
          <a:lstStyle/>
          <a:p>
            <a:pPr indent="0" marL="0">
              <a:buNone/>
            </a:pPr>
            <a:r>
              <a:rPr lang="en-US" sz="1700" b="1" dirty="0">
                <a:solidFill>
                  <a:schemeClr val="tx2"/>
                </a:solidFill>
              </a:rPr>
              <a:t>Давхардал</a:t>
            </a:r>
            <a:endParaRPr lang="en-US" sz="1700" dirty="0"/>
          </a:p>
        </p:txBody>
      </p:sp>
      <p:sp>
        <p:nvSpPr>
          <p:cNvPr id="5" name="Text 3"/>
          <p:cNvSpPr txBox="1"/>
          <p:nvPr/>
        </p:nvSpPr>
        <p:spPr>
          <a:xfrm>
            <a:off x="3749040" y="1600200"/>
            <a:ext cx="1828800" cy="411480"/>
          </a:xfrm>
          <a:prstGeom prst="rect">
            <a:avLst/>
          </a:prstGeom>
          <a:noFill/>
          <a:ln/>
        </p:spPr>
        <p:txBody>
          <a:bodyPr wrap="square" lIns="0" tIns="0" rIns="0" bIns="0" rtlCol="0" anchor="ctr"/>
          <a:lstStyle/>
          <a:p>
            <a:pPr indent="0" marL="0">
              <a:buNone/>
            </a:pPr>
            <a:r>
              <a:rPr lang="en-US" sz="1700" b="1" dirty="0">
                <a:solidFill>
                  <a:schemeClr val="accent2"/>
                </a:solidFill>
              </a:rPr>
              <a:t>0 мөр</a:t>
            </a:r>
            <a:endParaRPr lang="en-US" sz="1700" dirty="0"/>
          </a:p>
        </p:txBody>
      </p:sp>
      <p:sp>
        <p:nvSpPr>
          <p:cNvPr id="6" name="Text 4"/>
          <p:cNvSpPr txBox="1"/>
          <p:nvPr/>
        </p:nvSpPr>
        <p:spPr>
          <a:xfrm>
            <a:off x="5669280" y="1600200"/>
            <a:ext cx="5760720" cy="411480"/>
          </a:xfrm>
          <a:prstGeom prst="rect">
            <a:avLst/>
          </a:prstGeom>
          <a:noFill/>
          <a:ln/>
        </p:spPr>
        <p:txBody>
          <a:bodyPr wrap="square" lIns="0" tIns="0" rIns="0" bIns="0" rtlCol="0" anchor="ctr"/>
          <a:lstStyle/>
          <a:p>
            <a:pPr indent="0" marL="0">
              <a:buNone/>
            </a:pPr>
            <a:r>
              <a:rPr lang="en-US" sz="1500" dirty="0">
                <a:solidFill>
                  <a:schemeClr val="tx1"/>
                </a:solidFill>
              </a:rPr>
              <a:t>duplicated() — бүх багана, axc_id + p01</a:t>
            </a:r>
            <a:endParaRPr lang="en-US" sz="1500" dirty="0"/>
          </a:p>
        </p:txBody>
      </p:sp>
      <p:sp>
        <p:nvSpPr>
          <p:cNvPr id="7" name="step1"/>
          <p:cNvSpPr/>
          <p:nvPr/>
        </p:nvSpPr>
        <p:spPr>
          <a:xfrm>
            <a:off x="548640" y="2313432"/>
            <a:ext cx="11064240" cy="749808"/>
          </a:xfrm>
          <a:prstGeom prst="roundRect">
            <a:avLst>
              <a:gd name="adj" fmla="val 14634"/>
            </a:avLst>
          </a:prstGeom>
          <a:solidFill>
            <a:schemeClr val="bg2"/>
          </a:solidFill>
          <a:ln w="12700">
            <a:solidFill>
              <a:schemeClr val="bg2"/>
            </a:solidFill>
            <a:prstDash val="solid"/>
          </a:ln>
        </p:spPr>
      </p:sp>
      <p:sp>
        <p:nvSpPr>
          <p:cNvPr id="8" name="Text 6"/>
          <p:cNvSpPr txBox="1"/>
          <p:nvPr/>
        </p:nvSpPr>
        <p:spPr>
          <a:xfrm>
            <a:off x="822960" y="2496312"/>
            <a:ext cx="2926080" cy="411480"/>
          </a:xfrm>
          <a:prstGeom prst="rect">
            <a:avLst/>
          </a:prstGeom>
          <a:noFill/>
          <a:ln/>
        </p:spPr>
        <p:txBody>
          <a:bodyPr wrap="square" lIns="0" tIns="0" rIns="0" bIns="0" rtlCol="0" anchor="ctr"/>
          <a:lstStyle/>
          <a:p>
            <a:pPr indent="0" marL="0">
              <a:buNone/>
            </a:pPr>
            <a:r>
              <a:rPr lang="en-US" sz="1700" b="1" dirty="0">
                <a:solidFill>
                  <a:schemeClr val="tx2"/>
                </a:solidFill>
              </a:rPr>
              <a:t>0 цалин</a:t>
            </a:r>
            <a:endParaRPr lang="en-US" sz="1700" dirty="0"/>
          </a:p>
        </p:txBody>
      </p:sp>
      <p:sp>
        <p:nvSpPr>
          <p:cNvPr id="9" name="Text 7"/>
          <p:cNvSpPr txBox="1"/>
          <p:nvPr/>
        </p:nvSpPr>
        <p:spPr>
          <a:xfrm>
            <a:off x="3749040" y="2496312"/>
            <a:ext cx="1828800" cy="411480"/>
          </a:xfrm>
          <a:prstGeom prst="rect">
            <a:avLst/>
          </a:prstGeom>
          <a:noFill/>
          <a:ln/>
        </p:spPr>
        <p:txBody>
          <a:bodyPr wrap="square" lIns="0" tIns="0" rIns="0" bIns="0" rtlCol="0" anchor="ctr"/>
          <a:lstStyle/>
          <a:p>
            <a:pPr indent="0" marL="0">
              <a:buNone/>
            </a:pPr>
            <a:r>
              <a:rPr lang="en-US" sz="1700" b="1" dirty="0">
                <a:solidFill>
                  <a:schemeClr val="accent2"/>
                </a:solidFill>
              </a:rPr>
              <a:t>−4</a:t>
            </a:r>
            <a:endParaRPr lang="en-US" sz="1700" dirty="0"/>
          </a:p>
        </p:txBody>
      </p:sp>
      <p:sp>
        <p:nvSpPr>
          <p:cNvPr id="10" name="Text 8"/>
          <p:cNvSpPr txBox="1"/>
          <p:nvPr/>
        </p:nvSpPr>
        <p:spPr>
          <a:xfrm>
            <a:off x="5669280" y="2496312"/>
            <a:ext cx="5760720" cy="411480"/>
          </a:xfrm>
          <a:prstGeom prst="rect">
            <a:avLst/>
          </a:prstGeom>
          <a:noFill/>
          <a:ln/>
        </p:spPr>
        <p:txBody>
          <a:bodyPr wrap="square" lIns="0" tIns="0" rIns="0" bIns="0" rtlCol="0" anchor="ctr"/>
          <a:lstStyle/>
          <a:p>
            <a:pPr indent="0" marL="0">
              <a:buNone/>
            </a:pPr>
            <a:r>
              <a:rPr lang="en-US" sz="1500" dirty="0">
                <a:solidFill>
                  <a:schemeClr val="tx1"/>
                </a:solidFill>
              </a:rPr>
              <a:t>Цалинтай мөртлөө 0 ₮ — логик алдаа</a:t>
            </a:r>
            <a:endParaRPr lang="en-US" sz="1500" dirty="0"/>
          </a:p>
        </p:txBody>
      </p:sp>
      <p:sp>
        <p:nvSpPr>
          <p:cNvPr id="11" name="step2"/>
          <p:cNvSpPr/>
          <p:nvPr/>
        </p:nvSpPr>
        <p:spPr>
          <a:xfrm>
            <a:off x="548640" y="3209544"/>
            <a:ext cx="11064240" cy="749808"/>
          </a:xfrm>
          <a:prstGeom prst="roundRect">
            <a:avLst>
              <a:gd name="adj" fmla="val 14634"/>
            </a:avLst>
          </a:prstGeom>
          <a:solidFill>
            <a:schemeClr val="bg2"/>
          </a:solidFill>
          <a:ln w="12700">
            <a:solidFill>
              <a:schemeClr val="bg2"/>
            </a:solidFill>
            <a:prstDash val="solid"/>
          </a:ln>
        </p:spPr>
      </p:sp>
      <p:sp>
        <p:nvSpPr>
          <p:cNvPr id="12" name="Text 10"/>
          <p:cNvSpPr txBox="1"/>
          <p:nvPr/>
        </p:nvSpPr>
        <p:spPr>
          <a:xfrm>
            <a:off x="822960" y="3392424"/>
            <a:ext cx="2926080" cy="411480"/>
          </a:xfrm>
          <a:prstGeom prst="rect">
            <a:avLst/>
          </a:prstGeom>
          <a:noFill/>
          <a:ln/>
        </p:spPr>
        <p:txBody>
          <a:bodyPr wrap="square" lIns="0" tIns="0" rIns="0" bIns="0" rtlCol="0" anchor="ctr"/>
          <a:lstStyle/>
          <a:p>
            <a:pPr indent="0" marL="0">
              <a:buNone/>
            </a:pPr>
            <a:r>
              <a:rPr lang="en-US" sz="1700" b="1" dirty="0">
                <a:solidFill>
                  <a:schemeClr val="tx2"/>
                </a:solidFill>
              </a:rPr>
              <a:t>Сарын бус цалин</a:t>
            </a:r>
            <a:endParaRPr lang="en-US" sz="1700" dirty="0"/>
          </a:p>
        </p:txBody>
      </p:sp>
      <p:sp>
        <p:nvSpPr>
          <p:cNvPr id="13" name="Text 11"/>
          <p:cNvSpPr txBox="1"/>
          <p:nvPr/>
        </p:nvSpPr>
        <p:spPr>
          <a:xfrm>
            <a:off x="3749040" y="3392424"/>
            <a:ext cx="1828800" cy="411480"/>
          </a:xfrm>
          <a:prstGeom prst="rect">
            <a:avLst/>
          </a:prstGeom>
          <a:noFill/>
          <a:ln/>
        </p:spPr>
        <p:txBody>
          <a:bodyPr wrap="square" lIns="0" tIns="0" rIns="0" bIns="0" rtlCol="0" anchor="ctr"/>
          <a:lstStyle/>
          <a:p>
            <a:pPr indent="0" marL="0">
              <a:buNone/>
            </a:pPr>
            <a:r>
              <a:rPr lang="en-US" sz="1700" b="1" dirty="0">
                <a:solidFill>
                  <a:schemeClr val="accent2"/>
                </a:solidFill>
              </a:rPr>
              <a:t>−127</a:t>
            </a:r>
            <a:endParaRPr lang="en-US" sz="1700" dirty="0"/>
          </a:p>
        </p:txBody>
      </p:sp>
      <p:sp>
        <p:nvSpPr>
          <p:cNvPr id="14" name="Text 12"/>
          <p:cNvSpPr txBox="1"/>
          <p:nvPr/>
        </p:nvSpPr>
        <p:spPr>
          <a:xfrm>
            <a:off x="5669280" y="3392424"/>
            <a:ext cx="5760720" cy="411480"/>
          </a:xfrm>
          <a:prstGeom prst="rect">
            <a:avLst/>
          </a:prstGeom>
          <a:noFill/>
          <a:ln/>
        </p:spPr>
        <p:txBody>
          <a:bodyPr wrap="square" lIns="0" tIns="0" rIns="0" bIns="0" rtlCol="0" anchor="ctr"/>
          <a:lstStyle/>
          <a:p>
            <a:pPr indent="0" marL="0">
              <a:buNone/>
            </a:pPr>
            <a:r>
              <a:rPr lang="en-US" sz="1500" dirty="0">
                <a:solidFill>
                  <a:schemeClr val="tx1"/>
                </a:solidFill>
              </a:rPr>
              <a:t>Өдөр, долоо хоногийн цалинг харьцуулах боломжгүй</a:t>
            </a:r>
            <a:endParaRPr lang="en-US" sz="1500" dirty="0"/>
          </a:p>
        </p:txBody>
      </p:sp>
      <p:sp>
        <p:nvSpPr>
          <p:cNvPr id="15" name="step3"/>
          <p:cNvSpPr/>
          <p:nvPr/>
        </p:nvSpPr>
        <p:spPr>
          <a:xfrm>
            <a:off x="548640" y="4105656"/>
            <a:ext cx="11064240" cy="749808"/>
          </a:xfrm>
          <a:prstGeom prst="roundRect">
            <a:avLst>
              <a:gd name="adj" fmla="val 14634"/>
            </a:avLst>
          </a:prstGeom>
          <a:solidFill>
            <a:schemeClr val="bg2"/>
          </a:solidFill>
          <a:ln w="12700">
            <a:solidFill>
              <a:schemeClr val="bg2"/>
            </a:solidFill>
            <a:prstDash val="solid"/>
          </a:ln>
        </p:spPr>
      </p:sp>
      <p:sp>
        <p:nvSpPr>
          <p:cNvPr id="16" name="Text 14"/>
          <p:cNvSpPr txBox="1"/>
          <p:nvPr/>
        </p:nvSpPr>
        <p:spPr>
          <a:xfrm>
            <a:off x="822960" y="4288536"/>
            <a:ext cx="2926080" cy="411480"/>
          </a:xfrm>
          <a:prstGeom prst="rect">
            <a:avLst/>
          </a:prstGeom>
          <a:noFill/>
          <a:ln/>
        </p:spPr>
        <p:txBody>
          <a:bodyPr wrap="square" lIns="0" tIns="0" rIns="0" bIns="0" rtlCol="0" anchor="ctr"/>
          <a:lstStyle/>
          <a:p>
            <a:pPr indent="0" marL="0">
              <a:buNone/>
            </a:pPr>
            <a:r>
              <a:rPr lang="en-US" sz="1700" b="1" dirty="0">
                <a:solidFill>
                  <a:schemeClr val="tx2"/>
                </a:solidFill>
              </a:rPr>
              <a:t>Боловсрол хоосон</a:t>
            </a:r>
            <a:endParaRPr lang="en-US" sz="1700" dirty="0"/>
          </a:p>
        </p:txBody>
      </p:sp>
      <p:sp>
        <p:nvSpPr>
          <p:cNvPr id="17" name="Text 15"/>
          <p:cNvSpPr txBox="1"/>
          <p:nvPr/>
        </p:nvSpPr>
        <p:spPr>
          <a:xfrm>
            <a:off x="3749040" y="4288536"/>
            <a:ext cx="1828800" cy="411480"/>
          </a:xfrm>
          <a:prstGeom prst="rect">
            <a:avLst/>
          </a:prstGeom>
          <a:noFill/>
          <a:ln/>
        </p:spPr>
        <p:txBody>
          <a:bodyPr wrap="square" lIns="0" tIns="0" rIns="0" bIns="0" rtlCol="0" anchor="ctr"/>
          <a:lstStyle/>
          <a:p>
            <a:pPr indent="0" marL="0">
              <a:buNone/>
            </a:pPr>
            <a:r>
              <a:rPr lang="en-US" sz="1700" b="1" dirty="0">
                <a:solidFill>
                  <a:schemeClr val="accent2"/>
                </a:solidFill>
              </a:rPr>
              <a:t>−19</a:t>
            </a:r>
            <a:endParaRPr lang="en-US" sz="1700" dirty="0"/>
          </a:p>
        </p:txBody>
      </p:sp>
      <p:sp>
        <p:nvSpPr>
          <p:cNvPr id="18" name="Text 16"/>
          <p:cNvSpPr txBox="1"/>
          <p:nvPr/>
        </p:nvSpPr>
        <p:spPr>
          <a:xfrm>
            <a:off x="5669280" y="4288536"/>
            <a:ext cx="5760720" cy="411480"/>
          </a:xfrm>
          <a:prstGeom prst="rect">
            <a:avLst/>
          </a:prstGeom>
          <a:noFill/>
          <a:ln/>
        </p:spPr>
        <p:txBody>
          <a:bodyPr wrap="square" lIns="0" tIns="0" rIns="0" bIns="0" rtlCol="0" anchor="ctr"/>
          <a:lstStyle/>
          <a:p>
            <a:pPr indent="0" marL="0">
              <a:buNone/>
            </a:pPr>
            <a:r>
              <a:rPr lang="en-US" sz="1500" dirty="0">
                <a:solidFill>
                  <a:schemeClr val="tx1"/>
                </a:solidFill>
              </a:rPr>
              <a:t>Ангиллын хувьсагч — нөхөхгүй, хасав</a:t>
            </a:r>
            <a:endParaRPr lang="en-US" sz="1500" dirty="0"/>
          </a:p>
        </p:txBody>
      </p:sp>
      <p:sp>
        <p:nvSpPr>
          <p:cNvPr id="19" name="step4"/>
          <p:cNvSpPr/>
          <p:nvPr/>
        </p:nvSpPr>
        <p:spPr>
          <a:xfrm>
            <a:off x="548640" y="5001768"/>
            <a:ext cx="11064240" cy="749808"/>
          </a:xfrm>
          <a:prstGeom prst="roundRect">
            <a:avLst>
              <a:gd name="adj" fmla="val 14634"/>
            </a:avLst>
          </a:prstGeom>
          <a:solidFill>
            <a:schemeClr val="bg2"/>
          </a:solidFill>
          <a:ln w="12700">
            <a:solidFill>
              <a:schemeClr val="bg2"/>
            </a:solidFill>
            <a:prstDash val="solid"/>
          </a:ln>
        </p:spPr>
      </p:sp>
      <p:sp>
        <p:nvSpPr>
          <p:cNvPr id="20" name="Text 18"/>
          <p:cNvSpPr txBox="1"/>
          <p:nvPr/>
        </p:nvSpPr>
        <p:spPr>
          <a:xfrm>
            <a:off x="822960" y="5184648"/>
            <a:ext cx="2926080" cy="411480"/>
          </a:xfrm>
          <a:prstGeom prst="rect">
            <a:avLst/>
          </a:prstGeom>
          <a:noFill/>
          <a:ln/>
        </p:spPr>
        <p:txBody>
          <a:bodyPr wrap="square" lIns="0" tIns="0" rIns="0" bIns="0" rtlCol="0" anchor="ctr"/>
          <a:lstStyle/>
          <a:p>
            <a:pPr indent="0" marL="0">
              <a:buNone/>
            </a:pPr>
            <a:r>
              <a:rPr lang="en-US" sz="1700" b="1" dirty="0">
                <a:solidFill>
                  <a:schemeClr val="tx2"/>
                </a:solidFill>
              </a:rPr>
              <a:t>Outlier (IQR)</a:t>
            </a:r>
            <a:endParaRPr lang="en-US" sz="1700" dirty="0"/>
          </a:p>
        </p:txBody>
      </p:sp>
      <p:sp>
        <p:nvSpPr>
          <p:cNvPr id="21" name="Text 19"/>
          <p:cNvSpPr txBox="1"/>
          <p:nvPr/>
        </p:nvSpPr>
        <p:spPr>
          <a:xfrm>
            <a:off x="3749040" y="5184648"/>
            <a:ext cx="1828800" cy="411480"/>
          </a:xfrm>
          <a:prstGeom prst="rect">
            <a:avLst/>
          </a:prstGeom>
          <a:noFill/>
          <a:ln/>
        </p:spPr>
        <p:txBody>
          <a:bodyPr wrap="square" lIns="0" tIns="0" rIns="0" bIns="0" rtlCol="0" anchor="ctr"/>
          <a:lstStyle/>
          <a:p>
            <a:pPr indent="0" marL="0">
              <a:buNone/>
            </a:pPr>
            <a:r>
              <a:rPr lang="en-US" sz="1700" b="1" dirty="0">
                <a:solidFill>
                  <a:schemeClr val="accent2"/>
                </a:solidFill>
              </a:rPr>
              <a:t>410 үлдээв</a:t>
            </a:r>
            <a:endParaRPr lang="en-US" sz="1700" dirty="0"/>
          </a:p>
        </p:txBody>
      </p:sp>
      <p:sp>
        <p:nvSpPr>
          <p:cNvPr id="22" name="Text 20"/>
          <p:cNvSpPr txBox="1"/>
          <p:nvPr/>
        </p:nvSpPr>
        <p:spPr>
          <a:xfrm>
            <a:off x="5669280" y="5184648"/>
            <a:ext cx="5760720" cy="411480"/>
          </a:xfrm>
          <a:prstGeom prst="rect">
            <a:avLst/>
          </a:prstGeom>
          <a:noFill/>
          <a:ln/>
        </p:spPr>
        <p:txBody>
          <a:bodyPr wrap="square" lIns="0" tIns="0" rIns="0" bIns="0" rtlCol="0" anchor="ctr"/>
          <a:lstStyle/>
          <a:p>
            <a:pPr indent="0" marL="0">
              <a:buNone/>
            </a:pPr>
            <a:r>
              <a:rPr lang="en-US" sz="1500" dirty="0">
                <a:solidFill>
                  <a:schemeClr val="tx1"/>
                </a:solidFill>
              </a:rPr>
              <a:t>&gt; 3.7 сая ₮ — бодит өндөр цалин</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10 хүн тутмын 6 нь ажиллах хүчинд</a:t>
            </a:r>
            <a:endParaRPr lang="en-US" sz="3200" dirty="0"/>
          </a:p>
        </p:txBody>
      </p:sp>
      <p:sp>
        <p:nvSpPr>
          <p:cNvPr id="3" name="stat Оролцооны түвшин"/>
          <p:cNvSpPr/>
          <p:nvPr/>
        </p:nvSpPr>
        <p:spPr>
          <a:xfrm>
            <a:off x="548640" y="1463040"/>
            <a:ext cx="3520440" cy="1600200"/>
          </a:xfrm>
          <a:prstGeom prst="roundRect">
            <a:avLst>
              <a:gd name="adj" fmla="val 6857"/>
            </a:avLst>
          </a:prstGeom>
          <a:solidFill>
            <a:schemeClr val="bg2"/>
          </a:solidFill>
          <a:ln w="12700">
            <a:solidFill>
              <a:schemeClr val="bg2"/>
            </a:solidFill>
            <a:prstDash val="solid"/>
          </a:ln>
        </p:spPr>
      </p:sp>
      <p:sp>
        <p:nvSpPr>
          <p:cNvPr id="4" name="Text 2"/>
          <p:cNvSpPr txBox="1"/>
          <p:nvPr/>
        </p:nvSpPr>
        <p:spPr>
          <a:xfrm>
            <a:off x="822960" y="1664208"/>
            <a:ext cx="2971800" cy="731520"/>
          </a:xfrm>
          <a:prstGeom prst="rect">
            <a:avLst/>
          </a:prstGeom>
          <a:noFill/>
          <a:ln/>
        </p:spPr>
        <p:txBody>
          <a:bodyPr wrap="square" lIns="0" tIns="0" rIns="0" bIns="0" rtlCol="0" anchor="t"/>
          <a:lstStyle/>
          <a:p>
            <a:pPr indent="0" marL="0">
              <a:buNone/>
            </a:pPr>
            <a:r>
              <a:rPr lang="en-US" sz="3600" b="1" dirty="0">
                <a:solidFill>
                  <a:schemeClr val="accent2"/>
                </a:solidFill>
                <a:latin typeface="Cambria" pitchFamily="34" charset="0"/>
                <a:ea typeface="Cambria" pitchFamily="34" charset="-122"/>
                <a:cs typeface="Cambria" pitchFamily="34" charset="-120"/>
              </a:rPr>
              <a:t>60.6%</a:t>
            </a:r>
            <a:endParaRPr lang="en-US" sz="3600" dirty="0"/>
          </a:p>
        </p:txBody>
      </p:sp>
      <p:sp>
        <p:nvSpPr>
          <p:cNvPr id="5" name="Text 3"/>
          <p:cNvSpPr txBox="1"/>
          <p:nvPr/>
        </p:nvSpPr>
        <p:spPr>
          <a:xfrm>
            <a:off x="822960" y="2377440"/>
            <a:ext cx="2971800" cy="594360"/>
          </a:xfrm>
          <a:prstGeom prst="rect">
            <a:avLst/>
          </a:prstGeom>
          <a:noFill/>
          <a:ln/>
        </p:spPr>
        <p:txBody>
          <a:bodyPr wrap="square" lIns="0" tIns="0" rIns="0" bIns="0" rtlCol="0" anchor="t"/>
          <a:lstStyle/>
          <a:p>
            <a:pPr indent="0" marL="0">
              <a:buNone/>
            </a:pPr>
            <a:r>
              <a:rPr lang="en-US" sz="1400" dirty="0">
                <a:solidFill>
                  <a:schemeClr val="accent6"/>
                </a:solidFill>
              </a:rPr>
              <a:t>Оролцооны түвшин</a:t>
            </a:r>
            <a:endParaRPr lang="en-US" sz="1400" dirty="0"/>
          </a:p>
        </p:txBody>
      </p:sp>
      <p:sp>
        <p:nvSpPr>
          <p:cNvPr id="6" name="stat Ажилгүйдлийн түвшин"/>
          <p:cNvSpPr/>
          <p:nvPr/>
        </p:nvSpPr>
        <p:spPr>
          <a:xfrm>
            <a:off x="4251960" y="1463040"/>
            <a:ext cx="3520440" cy="1600200"/>
          </a:xfrm>
          <a:prstGeom prst="roundRect">
            <a:avLst>
              <a:gd name="adj" fmla="val 6857"/>
            </a:avLst>
          </a:prstGeom>
          <a:solidFill>
            <a:schemeClr val="bg2"/>
          </a:solidFill>
          <a:ln w="12700">
            <a:solidFill>
              <a:schemeClr val="bg2"/>
            </a:solidFill>
            <a:prstDash val="solid"/>
          </a:ln>
        </p:spPr>
      </p:sp>
      <p:sp>
        <p:nvSpPr>
          <p:cNvPr id="7" name="Text 5"/>
          <p:cNvSpPr txBox="1"/>
          <p:nvPr/>
        </p:nvSpPr>
        <p:spPr>
          <a:xfrm>
            <a:off x="4526280" y="1664208"/>
            <a:ext cx="2971800" cy="731520"/>
          </a:xfrm>
          <a:prstGeom prst="rect">
            <a:avLst/>
          </a:prstGeom>
          <a:noFill/>
          <a:ln/>
        </p:spPr>
        <p:txBody>
          <a:bodyPr wrap="square" lIns="0" tIns="0" rIns="0" bIns="0" rtlCol="0" anchor="t"/>
          <a:lstStyle/>
          <a:p>
            <a:pPr indent="0" marL="0">
              <a:buNone/>
            </a:pPr>
            <a:r>
              <a:rPr lang="en-US" sz="3600" b="1" dirty="0">
                <a:solidFill>
                  <a:schemeClr val="tx2"/>
                </a:solidFill>
                <a:latin typeface="Cambria" pitchFamily="34" charset="0"/>
                <a:ea typeface="Cambria" pitchFamily="34" charset="-122"/>
                <a:cs typeface="Cambria" pitchFamily="34" charset="-120"/>
              </a:rPr>
              <a:t>6.2%</a:t>
            </a:r>
            <a:endParaRPr lang="en-US" sz="3600" dirty="0"/>
          </a:p>
        </p:txBody>
      </p:sp>
      <p:sp>
        <p:nvSpPr>
          <p:cNvPr id="8" name="Text 6"/>
          <p:cNvSpPr txBox="1"/>
          <p:nvPr/>
        </p:nvSpPr>
        <p:spPr>
          <a:xfrm>
            <a:off x="4526280" y="2377440"/>
            <a:ext cx="2971800" cy="594360"/>
          </a:xfrm>
          <a:prstGeom prst="rect">
            <a:avLst/>
          </a:prstGeom>
          <a:noFill/>
          <a:ln/>
        </p:spPr>
        <p:txBody>
          <a:bodyPr wrap="square" lIns="0" tIns="0" rIns="0" bIns="0" rtlCol="0" anchor="t"/>
          <a:lstStyle/>
          <a:p>
            <a:pPr indent="0" marL="0">
              <a:buNone/>
            </a:pPr>
            <a:r>
              <a:rPr lang="en-US" sz="1400" dirty="0">
                <a:solidFill>
                  <a:schemeClr val="accent6"/>
                </a:solidFill>
              </a:rPr>
              <a:t>Ажилгүйдлийн түвшин</a:t>
            </a:r>
            <a:endParaRPr lang="en-US" sz="1400" dirty="0"/>
          </a:p>
        </p:txBody>
      </p:sp>
      <p:sp>
        <p:nvSpPr>
          <p:cNvPr id="9" name="stat Хөдөлмөр эрхлэлтийн түвшин"/>
          <p:cNvSpPr/>
          <p:nvPr/>
        </p:nvSpPr>
        <p:spPr>
          <a:xfrm>
            <a:off x="7955280" y="1463040"/>
            <a:ext cx="3657600" cy="1600200"/>
          </a:xfrm>
          <a:prstGeom prst="roundRect">
            <a:avLst>
              <a:gd name="adj" fmla="val 6857"/>
            </a:avLst>
          </a:prstGeom>
          <a:solidFill>
            <a:schemeClr val="bg2"/>
          </a:solidFill>
          <a:ln w="12700">
            <a:solidFill>
              <a:schemeClr val="bg2"/>
            </a:solidFill>
            <a:prstDash val="solid"/>
          </a:ln>
        </p:spPr>
      </p:sp>
      <p:sp>
        <p:nvSpPr>
          <p:cNvPr id="10" name="Text 8"/>
          <p:cNvSpPr txBox="1"/>
          <p:nvPr/>
        </p:nvSpPr>
        <p:spPr>
          <a:xfrm>
            <a:off x="8229600" y="1664208"/>
            <a:ext cx="3108960" cy="731520"/>
          </a:xfrm>
          <a:prstGeom prst="rect">
            <a:avLst/>
          </a:prstGeom>
          <a:noFill/>
          <a:ln/>
        </p:spPr>
        <p:txBody>
          <a:bodyPr wrap="square" lIns="0" tIns="0" rIns="0" bIns="0" rtlCol="0" anchor="t"/>
          <a:lstStyle/>
          <a:p>
            <a:pPr indent="0" marL="0">
              <a:buNone/>
            </a:pPr>
            <a:r>
              <a:rPr lang="en-US" sz="3600" b="1" dirty="0">
                <a:solidFill>
                  <a:schemeClr val="tx2"/>
                </a:solidFill>
                <a:latin typeface="Cambria" pitchFamily="34" charset="0"/>
                <a:ea typeface="Cambria" pitchFamily="34" charset="-122"/>
                <a:cs typeface="Cambria" pitchFamily="34" charset="-120"/>
              </a:rPr>
              <a:t>56.9%</a:t>
            </a:r>
            <a:endParaRPr lang="en-US" sz="3600" dirty="0"/>
          </a:p>
        </p:txBody>
      </p:sp>
      <p:sp>
        <p:nvSpPr>
          <p:cNvPr id="11" name="Text 9"/>
          <p:cNvSpPr txBox="1"/>
          <p:nvPr/>
        </p:nvSpPr>
        <p:spPr>
          <a:xfrm>
            <a:off x="8229600" y="2377440"/>
            <a:ext cx="3108960" cy="594360"/>
          </a:xfrm>
          <a:prstGeom prst="rect">
            <a:avLst/>
          </a:prstGeom>
          <a:noFill/>
          <a:ln/>
        </p:spPr>
        <p:txBody>
          <a:bodyPr wrap="square" lIns="0" tIns="0" rIns="0" bIns="0" rtlCol="0" anchor="t"/>
          <a:lstStyle/>
          <a:p>
            <a:pPr indent="0" marL="0">
              <a:buNone/>
            </a:pPr>
            <a:r>
              <a:rPr lang="en-US" sz="1400" dirty="0">
                <a:solidFill>
                  <a:schemeClr val="accent6"/>
                </a:solidFill>
              </a:rPr>
              <a:t>Хөдөлмөр эрхлэлтийн түвшин</a:t>
            </a:r>
            <a:endParaRPr lang="en-US" sz="1400" dirty="0"/>
          </a:p>
        </p:txBody>
      </p:sp>
      <p:sp>
        <p:nvSpPr>
          <p:cNvPr id="12" name="tree"/>
          <p:cNvSpPr/>
          <p:nvPr/>
        </p:nvSpPr>
        <p:spPr>
          <a:xfrm>
            <a:off x="548640" y="3291840"/>
            <a:ext cx="6949440" cy="2834640"/>
          </a:xfrm>
          <a:prstGeom prst="roundRect">
            <a:avLst>
              <a:gd name="adj" fmla="val 3871"/>
            </a:avLst>
          </a:prstGeom>
          <a:solidFill>
            <a:schemeClr val="bg2"/>
          </a:solidFill>
          <a:ln w="12700">
            <a:solidFill>
              <a:schemeClr val="bg2"/>
            </a:solidFill>
            <a:prstDash val="solid"/>
          </a:ln>
        </p:spPr>
      </p:sp>
      <p:sp>
        <p:nvSpPr>
          <p:cNvPr id="13" name="Text 11"/>
          <p:cNvSpPr txBox="1"/>
          <p:nvPr/>
        </p:nvSpPr>
        <p:spPr>
          <a:xfrm>
            <a:off x="822960" y="3474720"/>
            <a:ext cx="5120640" cy="411480"/>
          </a:xfrm>
          <a:prstGeom prst="rect">
            <a:avLst/>
          </a:prstGeom>
          <a:noFill/>
          <a:ln/>
        </p:spPr>
        <p:txBody>
          <a:bodyPr wrap="square" lIns="0" tIns="0" rIns="0" bIns="0" rtlCol="0" anchor="ctr"/>
          <a:lstStyle/>
          <a:p>
            <a:pPr indent="0" marL="0">
              <a:buNone/>
            </a:pPr>
            <a:r>
              <a:rPr lang="en-US" sz="1500" b="1" dirty="0">
                <a:solidFill>
                  <a:schemeClr val="tx2"/>
                </a:solidFill>
              </a:rPr>
              <a:t>15+ насны хүн ам</a:t>
            </a:r>
            <a:endParaRPr lang="en-US" sz="1500" dirty="0"/>
          </a:p>
        </p:txBody>
      </p:sp>
      <p:sp>
        <p:nvSpPr>
          <p:cNvPr id="14" name="Text 12"/>
          <p:cNvSpPr txBox="1"/>
          <p:nvPr/>
        </p:nvSpPr>
        <p:spPr>
          <a:xfrm>
            <a:off x="5852160" y="3474720"/>
            <a:ext cx="1371600" cy="411480"/>
          </a:xfrm>
          <a:prstGeom prst="rect">
            <a:avLst/>
          </a:prstGeom>
          <a:noFill/>
          <a:ln/>
        </p:spPr>
        <p:txBody>
          <a:bodyPr wrap="square" lIns="0" tIns="0" rIns="0" bIns="0" rtlCol="0" anchor="ctr"/>
          <a:lstStyle/>
          <a:p>
            <a:pPr algn="r" indent="0" marL="0">
              <a:buNone/>
            </a:pPr>
            <a:r>
              <a:rPr lang="en-US" sz="1500" b="1" dirty="0">
                <a:solidFill>
                  <a:schemeClr val="tx1"/>
                </a:solidFill>
              </a:rPr>
              <a:t>34,404</a:t>
            </a:r>
            <a:endParaRPr lang="en-US" sz="1500" dirty="0"/>
          </a:p>
        </p:txBody>
      </p:sp>
      <p:sp>
        <p:nvSpPr>
          <p:cNvPr id="15" name="Text 13"/>
          <p:cNvSpPr txBox="1"/>
          <p:nvPr/>
        </p:nvSpPr>
        <p:spPr>
          <a:xfrm>
            <a:off x="1325880" y="3977640"/>
            <a:ext cx="4617720" cy="411480"/>
          </a:xfrm>
          <a:prstGeom prst="rect">
            <a:avLst/>
          </a:prstGeom>
          <a:noFill/>
          <a:ln/>
        </p:spPr>
        <p:txBody>
          <a:bodyPr wrap="square" lIns="0" tIns="0" rIns="0" bIns="0" rtlCol="0" anchor="ctr"/>
          <a:lstStyle/>
          <a:p>
            <a:pPr indent="0" marL="0">
              <a:buNone/>
            </a:pPr>
            <a:r>
              <a:rPr lang="en-US" sz="1500" b="1" dirty="0">
                <a:solidFill>
                  <a:schemeClr val="tx2"/>
                </a:solidFill>
              </a:rPr>
              <a:t>Ажиллах хүч</a:t>
            </a:r>
            <a:endParaRPr lang="en-US" sz="1500" dirty="0"/>
          </a:p>
        </p:txBody>
      </p:sp>
      <p:sp>
        <p:nvSpPr>
          <p:cNvPr id="16" name="Text 14"/>
          <p:cNvSpPr txBox="1"/>
          <p:nvPr/>
        </p:nvSpPr>
        <p:spPr>
          <a:xfrm>
            <a:off x="5852160" y="3977640"/>
            <a:ext cx="1371600" cy="411480"/>
          </a:xfrm>
          <a:prstGeom prst="rect">
            <a:avLst/>
          </a:prstGeom>
          <a:noFill/>
          <a:ln/>
        </p:spPr>
        <p:txBody>
          <a:bodyPr wrap="square" lIns="0" tIns="0" rIns="0" bIns="0" rtlCol="0" anchor="ctr"/>
          <a:lstStyle/>
          <a:p>
            <a:pPr algn="r" indent="0" marL="0">
              <a:buNone/>
            </a:pPr>
            <a:r>
              <a:rPr lang="en-US" sz="1500" b="1" dirty="0">
                <a:solidFill>
                  <a:schemeClr val="tx1"/>
                </a:solidFill>
              </a:rPr>
              <a:t>20,866</a:t>
            </a:r>
            <a:endParaRPr lang="en-US" sz="1500" dirty="0"/>
          </a:p>
        </p:txBody>
      </p:sp>
      <p:sp>
        <p:nvSpPr>
          <p:cNvPr id="17" name="Text 15"/>
          <p:cNvSpPr txBox="1"/>
          <p:nvPr/>
        </p:nvSpPr>
        <p:spPr>
          <a:xfrm>
            <a:off x="1828800" y="4480560"/>
            <a:ext cx="4114800" cy="411480"/>
          </a:xfrm>
          <a:prstGeom prst="rect">
            <a:avLst/>
          </a:prstGeom>
          <a:noFill/>
          <a:ln/>
        </p:spPr>
        <p:txBody>
          <a:bodyPr wrap="square" lIns="0" tIns="0" rIns="0" bIns="0" rtlCol="0" anchor="ctr"/>
          <a:lstStyle/>
          <a:p>
            <a:pPr indent="0" marL="0">
              <a:buNone/>
            </a:pPr>
            <a:r>
              <a:rPr lang="en-US" sz="1500" dirty="0">
                <a:solidFill>
                  <a:schemeClr val="tx1"/>
                </a:solidFill>
              </a:rPr>
              <a:t>Ажиллагч (e04 бөглөсөн)</a:t>
            </a:r>
            <a:endParaRPr lang="en-US" sz="1500" dirty="0"/>
          </a:p>
        </p:txBody>
      </p:sp>
      <p:sp>
        <p:nvSpPr>
          <p:cNvPr id="18" name="Text 16"/>
          <p:cNvSpPr txBox="1"/>
          <p:nvPr/>
        </p:nvSpPr>
        <p:spPr>
          <a:xfrm>
            <a:off x="5852160" y="4480560"/>
            <a:ext cx="1371600" cy="411480"/>
          </a:xfrm>
          <a:prstGeom prst="rect">
            <a:avLst/>
          </a:prstGeom>
          <a:noFill/>
          <a:ln/>
        </p:spPr>
        <p:txBody>
          <a:bodyPr wrap="square" lIns="0" tIns="0" rIns="0" bIns="0" rtlCol="0" anchor="ctr"/>
          <a:lstStyle/>
          <a:p>
            <a:pPr algn="r" indent="0" marL="0">
              <a:buNone/>
            </a:pPr>
            <a:r>
              <a:rPr lang="en-US" sz="1500" dirty="0">
                <a:solidFill>
                  <a:schemeClr val="tx1"/>
                </a:solidFill>
              </a:rPr>
              <a:t>19,567</a:t>
            </a:r>
            <a:endParaRPr lang="en-US" sz="1500" dirty="0"/>
          </a:p>
        </p:txBody>
      </p:sp>
      <p:sp>
        <p:nvSpPr>
          <p:cNvPr id="19" name="Text 17"/>
          <p:cNvSpPr txBox="1"/>
          <p:nvPr/>
        </p:nvSpPr>
        <p:spPr>
          <a:xfrm>
            <a:off x="1828800" y="4983480"/>
            <a:ext cx="4114800" cy="411480"/>
          </a:xfrm>
          <a:prstGeom prst="rect">
            <a:avLst/>
          </a:prstGeom>
          <a:noFill/>
          <a:ln/>
        </p:spPr>
        <p:txBody>
          <a:bodyPr wrap="square" lIns="0" tIns="0" rIns="0" bIns="0" rtlCol="0" anchor="ctr"/>
          <a:lstStyle/>
          <a:p>
            <a:pPr indent="0" marL="0">
              <a:buNone/>
            </a:pPr>
            <a:r>
              <a:rPr lang="en-US" sz="1500" dirty="0">
                <a:solidFill>
                  <a:schemeClr val="tx1"/>
                </a:solidFill>
              </a:rPr>
              <a:t>Ажилгүй (хайсан + бэлэн, H хэсэг)</a:t>
            </a:r>
            <a:endParaRPr lang="en-US" sz="1500" dirty="0"/>
          </a:p>
        </p:txBody>
      </p:sp>
      <p:sp>
        <p:nvSpPr>
          <p:cNvPr id="20" name="Text 18"/>
          <p:cNvSpPr txBox="1"/>
          <p:nvPr/>
        </p:nvSpPr>
        <p:spPr>
          <a:xfrm>
            <a:off x="5852160" y="4983480"/>
            <a:ext cx="1371600" cy="411480"/>
          </a:xfrm>
          <a:prstGeom prst="rect">
            <a:avLst/>
          </a:prstGeom>
          <a:noFill/>
          <a:ln/>
        </p:spPr>
        <p:txBody>
          <a:bodyPr wrap="square" lIns="0" tIns="0" rIns="0" bIns="0" rtlCol="0" anchor="ctr"/>
          <a:lstStyle/>
          <a:p>
            <a:pPr algn="r" indent="0" marL="0">
              <a:buNone/>
            </a:pPr>
            <a:r>
              <a:rPr lang="en-US" sz="1500" dirty="0">
                <a:solidFill>
                  <a:schemeClr val="tx1"/>
                </a:solidFill>
              </a:rPr>
              <a:t>1,299</a:t>
            </a:r>
            <a:endParaRPr lang="en-US" sz="1500" dirty="0"/>
          </a:p>
        </p:txBody>
      </p:sp>
      <p:sp>
        <p:nvSpPr>
          <p:cNvPr id="21" name="Text 19"/>
          <p:cNvSpPr txBox="1"/>
          <p:nvPr/>
        </p:nvSpPr>
        <p:spPr>
          <a:xfrm>
            <a:off x="1325880" y="5486400"/>
            <a:ext cx="4617720" cy="411480"/>
          </a:xfrm>
          <a:prstGeom prst="rect">
            <a:avLst/>
          </a:prstGeom>
          <a:noFill/>
          <a:ln/>
        </p:spPr>
        <p:txBody>
          <a:bodyPr wrap="square" lIns="0" tIns="0" rIns="0" bIns="0" rtlCol="0" anchor="ctr"/>
          <a:lstStyle/>
          <a:p>
            <a:pPr indent="0" marL="0">
              <a:buNone/>
            </a:pPr>
            <a:r>
              <a:rPr lang="en-US" sz="1500" dirty="0">
                <a:solidFill>
                  <a:schemeClr val="tx1"/>
                </a:solidFill>
              </a:rPr>
              <a:t>Ажиллах хүчнээс гадуур</a:t>
            </a:r>
            <a:endParaRPr lang="en-US" sz="1500" dirty="0"/>
          </a:p>
        </p:txBody>
      </p:sp>
      <p:sp>
        <p:nvSpPr>
          <p:cNvPr id="22" name="Text 20"/>
          <p:cNvSpPr txBox="1"/>
          <p:nvPr/>
        </p:nvSpPr>
        <p:spPr>
          <a:xfrm>
            <a:off x="5852160" y="5486400"/>
            <a:ext cx="1371600" cy="411480"/>
          </a:xfrm>
          <a:prstGeom prst="rect">
            <a:avLst/>
          </a:prstGeom>
          <a:noFill/>
          <a:ln/>
        </p:spPr>
        <p:txBody>
          <a:bodyPr wrap="square" lIns="0" tIns="0" rIns="0" bIns="0" rtlCol="0" anchor="ctr"/>
          <a:lstStyle/>
          <a:p>
            <a:pPr algn="r" indent="0" marL="0">
              <a:buNone/>
            </a:pPr>
            <a:r>
              <a:rPr lang="en-US" sz="1500" dirty="0">
                <a:solidFill>
                  <a:schemeClr val="tx1"/>
                </a:solidFill>
              </a:rPr>
              <a:t>13,538</a:t>
            </a:r>
            <a:endParaRPr lang="en-US" sz="1500" dirty="0"/>
          </a:p>
        </p:txBody>
      </p:sp>
      <p:sp>
        <p:nvSpPr>
          <p:cNvPr id="23" name="takeaway"/>
          <p:cNvSpPr/>
          <p:nvPr/>
        </p:nvSpPr>
        <p:spPr>
          <a:xfrm>
            <a:off x="7772400" y="3291840"/>
            <a:ext cx="3840480" cy="2834640"/>
          </a:xfrm>
          <a:prstGeom prst="roundRect">
            <a:avLst>
              <a:gd name="adj" fmla="val 3871"/>
            </a:avLst>
          </a:prstGeom>
          <a:solidFill>
            <a:schemeClr val="bg2"/>
          </a:solidFill>
          <a:ln w="12700">
            <a:solidFill>
              <a:schemeClr val="bg2"/>
            </a:solidFill>
            <a:prstDash val="solid"/>
          </a:ln>
        </p:spPr>
      </p:sp>
      <p:sp>
        <p:nvSpPr>
          <p:cNvPr id="24" name="Text 22"/>
          <p:cNvSpPr txBox="1"/>
          <p:nvPr/>
        </p:nvSpPr>
        <p:spPr>
          <a:xfrm>
            <a:off x="8046720" y="3520440"/>
            <a:ext cx="3291840" cy="365760"/>
          </a:xfrm>
          <a:prstGeom prst="rect">
            <a:avLst/>
          </a:prstGeom>
          <a:noFill/>
          <a:ln/>
        </p:spPr>
        <p:txBody>
          <a:bodyPr wrap="square" lIns="0" tIns="0" rIns="0" bIns="0" rtlCol="0" anchor="t"/>
          <a:lstStyle/>
          <a:p>
            <a:pPr indent="0" marL="0">
              <a:buNone/>
            </a:pPr>
            <a:r>
              <a:rPr lang="en-US" sz="1800" b="1" dirty="0">
                <a:solidFill>
                  <a:schemeClr val="tx2"/>
                </a:solidFill>
              </a:rPr>
              <a:t>Тодорхойлолт</a:t>
            </a:r>
            <a:endParaRPr lang="en-US" sz="1800" dirty="0"/>
          </a:p>
        </p:txBody>
      </p:sp>
      <p:sp>
        <p:nvSpPr>
          <p:cNvPr id="25" name="Text 23"/>
          <p:cNvSpPr txBox="1"/>
          <p:nvPr/>
        </p:nvSpPr>
        <p:spPr>
          <a:xfrm>
            <a:off x="8046720" y="4023360"/>
            <a:ext cx="3337560" cy="19202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Ажилгүйдэл = ажилгүй / ажиллах хүч</a:t>
            </a:r>
            <a:endParaRPr lang="en-US" sz="1500" dirty="0"/>
          </a:p>
          <a:p>
            <a:pPr marL="342900" indent="-342900">
              <a:spcAft>
                <a:spcPts val="800"/>
              </a:spcAft>
              <a:buSzPct val="100000"/>
              <a:buChar char="•"/>
            </a:pPr>
            <a:r>
              <a:rPr lang="en-US" sz="1500" dirty="0">
                <a:solidFill>
                  <a:schemeClr val="tx1"/>
                </a:solidFill>
              </a:rPr>
              <a:t>Хуваарь 15+ бүх хүн биш</a:t>
            </a:r>
            <a:endParaRPr lang="en-US" sz="1500" dirty="0"/>
          </a:p>
          <a:p>
            <a:pPr marL="342900" indent="-342900">
              <a:spcAft>
                <a:spcPts val="800"/>
              </a:spcAft>
              <a:buSzPct val="100000"/>
              <a:buChar char="•"/>
            </a:pPr>
            <a:r>
              <a:rPr lang="en-US" sz="1500" dirty="0">
                <a:solidFill>
                  <a:schemeClr val="tx1"/>
                </a:solidFill>
              </a:rPr>
              <a:t>Оюутан, тэтгэвэрт гарсан хүн ажилгүйд тооцогдохгүй</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Эмэгтэйчүүдийн оролцоо 15 нэгжээр бага</a:t>
            </a:r>
            <a:endParaRPr lang="en-US" sz="3200" dirty="0"/>
          </a:p>
        </p:txBody>
      </p:sp>
      <p:graphicFrame>
        <p:nvGraphicFramePr>
          <p:cNvPr id="3" name="Chart 0" descr=""/>
          <p:cNvGraphicFramePr/>
          <p:nvPr/>
        </p:nvGraphicFramePr>
        <p:xfrm>
          <a:off x="548640" y="1325880"/>
          <a:ext cx="5486400" cy="4846320"/>
        </p:xfrm>
        <a:graphic xmlns:a="http://schemas.openxmlformats.org/drawingml/2006/main">
          <a:graphicData uri="http://schemas.openxmlformats.org/drawingml/2006/chart">
            <c:chart xmlns:c="http://schemas.openxmlformats.org/drawingml/2006/chart" r:id="rId1"/>
          </a:graphicData>
        </a:graphic>
      </p:graphicFrame>
      <p:sp>
        <p:nvSpPr>
          <p:cNvPr id="4" name="takeaway"/>
          <p:cNvSpPr/>
          <p:nvPr/>
        </p:nvSpPr>
        <p:spPr>
          <a:xfrm>
            <a:off x="6400800" y="1417320"/>
            <a:ext cx="5212080" cy="4663440"/>
          </a:xfrm>
          <a:prstGeom prst="roundRect">
            <a:avLst>
              <a:gd name="adj" fmla="val 2353"/>
            </a:avLst>
          </a:prstGeom>
          <a:solidFill>
            <a:schemeClr val="bg2"/>
          </a:solidFill>
          <a:ln w="12700">
            <a:solidFill>
              <a:schemeClr val="bg2"/>
            </a:solidFill>
            <a:prstDash val="solid"/>
          </a:ln>
        </p:spPr>
      </p:sp>
      <p:sp>
        <p:nvSpPr>
          <p:cNvPr id="5" name="Text 2"/>
          <p:cNvSpPr txBox="1"/>
          <p:nvPr/>
        </p:nvSpPr>
        <p:spPr>
          <a:xfrm>
            <a:off x="6675120" y="1645920"/>
            <a:ext cx="4663440" cy="365760"/>
          </a:xfrm>
          <a:prstGeom prst="rect">
            <a:avLst/>
          </a:prstGeom>
          <a:noFill/>
          <a:ln/>
        </p:spPr>
        <p:txBody>
          <a:bodyPr wrap="square" lIns="0" tIns="0" rIns="0" bIns="0" rtlCol="0" anchor="t"/>
          <a:lstStyle/>
          <a:p>
            <a:pPr indent="0" marL="0">
              <a:buNone/>
            </a:pPr>
            <a:r>
              <a:rPr lang="en-US" sz="1800" b="1" dirty="0">
                <a:solidFill>
                  <a:schemeClr val="tx2"/>
                </a:solidFill>
              </a:rPr>
              <a:t>Хоёр үр дүнг холбовол</a:t>
            </a:r>
            <a:endParaRPr lang="en-US" sz="1800" dirty="0"/>
          </a:p>
        </p:txBody>
      </p:sp>
      <p:sp>
        <p:nvSpPr>
          <p:cNvPr id="6" name="Text 3"/>
          <p:cNvSpPr txBox="1"/>
          <p:nvPr/>
        </p:nvSpPr>
        <p:spPr>
          <a:xfrm>
            <a:off x="6675120" y="2148840"/>
            <a:ext cx="4709160" cy="3749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Нийт хүн амд эмэгтэй олон: 25,835 ба 24,976</a:t>
            </a:r>
            <a:endParaRPr lang="en-US" sz="1500" dirty="0"/>
          </a:p>
          <a:p>
            <a:pPr marL="342900" indent="-342900">
              <a:spcAft>
                <a:spcPts val="800"/>
              </a:spcAft>
              <a:buSzPct val="100000"/>
              <a:buChar char="•"/>
            </a:pPr>
            <a:r>
              <a:rPr lang="en-US" sz="1500" dirty="0">
                <a:solidFill>
                  <a:schemeClr val="tx1"/>
                </a:solidFill>
              </a:rPr>
              <a:t>Гэвч оролцоо нь бага: 53.5% ба 68.5%</a:t>
            </a:r>
            <a:endParaRPr lang="en-US" sz="1500" dirty="0"/>
          </a:p>
          <a:p>
            <a:pPr marL="342900" indent="-342900">
              <a:spcAft>
                <a:spcPts val="800"/>
              </a:spcAft>
              <a:buSzPct val="100000"/>
              <a:buChar char="•"/>
            </a:pPr>
            <a:r>
              <a:rPr lang="en-US" sz="1500" dirty="0">
                <a:solidFill>
                  <a:schemeClr val="tx1"/>
                </a:solidFill>
              </a:rPr>
              <a:t>Иймд цалинтай ажилчдын дунд эрэгтэй олон: 5,377 ба 5,176</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Ердийн сарын цалин 1.7 сая төгрөг</a:t>
            </a:r>
            <a:endParaRPr lang="en-US" sz="3200" dirty="0"/>
          </a:p>
        </p:txBody>
      </p:sp>
      <p:sp>
        <p:nvSpPr>
          <p:cNvPr id="3" name="stat Median, сая ₮"/>
          <p:cNvSpPr/>
          <p:nvPr/>
        </p:nvSpPr>
        <p:spPr>
          <a:xfrm>
            <a:off x="548640" y="1463040"/>
            <a:ext cx="2606040" cy="1600200"/>
          </a:xfrm>
          <a:prstGeom prst="roundRect">
            <a:avLst>
              <a:gd name="adj" fmla="val 6857"/>
            </a:avLst>
          </a:prstGeom>
          <a:solidFill>
            <a:schemeClr val="bg2"/>
          </a:solidFill>
          <a:ln w="12700">
            <a:solidFill>
              <a:schemeClr val="bg2"/>
            </a:solidFill>
            <a:prstDash val="solid"/>
          </a:ln>
        </p:spPr>
      </p:sp>
      <p:sp>
        <p:nvSpPr>
          <p:cNvPr id="4" name="Text 2"/>
          <p:cNvSpPr txBox="1"/>
          <p:nvPr/>
        </p:nvSpPr>
        <p:spPr>
          <a:xfrm>
            <a:off x="822960" y="1664208"/>
            <a:ext cx="2057400" cy="731520"/>
          </a:xfrm>
          <a:prstGeom prst="rect">
            <a:avLst/>
          </a:prstGeom>
          <a:noFill/>
          <a:ln/>
        </p:spPr>
        <p:txBody>
          <a:bodyPr wrap="square" lIns="0" tIns="0" rIns="0" bIns="0" rtlCol="0" anchor="t"/>
          <a:lstStyle/>
          <a:p>
            <a:pPr indent="0" marL="0">
              <a:buNone/>
            </a:pPr>
            <a:r>
              <a:rPr lang="en-US" sz="3600" b="1" dirty="0">
                <a:solidFill>
                  <a:schemeClr val="accent2"/>
                </a:solidFill>
                <a:latin typeface="Cambria" pitchFamily="34" charset="0"/>
                <a:ea typeface="Cambria" pitchFamily="34" charset="-122"/>
                <a:cs typeface="Cambria" pitchFamily="34" charset="-120"/>
              </a:rPr>
              <a:t>1.70</a:t>
            </a:r>
            <a:endParaRPr lang="en-US" sz="3600" dirty="0"/>
          </a:p>
        </p:txBody>
      </p:sp>
      <p:sp>
        <p:nvSpPr>
          <p:cNvPr id="5" name="Text 3"/>
          <p:cNvSpPr txBox="1"/>
          <p:nvPr/>
        </p:nvSpPr>
        <p:spPr>
          <a:xfrm>
            <a:off x="822960" y="2377440"/>
            <a:ext cx="2057400" cy="594360"/>
          </a:xfrm>
          <a:prstGeom prst="rect">
            <a:avLst/>
          </a:prstGeom>
          <a:noFill/>
          <a:ln/>
        </p:spPr>
        <p:txBody>
          <a:bodyPr wrap="square" lIns="0" tIns="0" rIns="0" bIns="0" rtlCol="0" anchor="t"/>
          <a:lstStyle/>
          <a:p>
            <a:pPr indent="0" marL="0">
              <a:buNone/>
            </a:pPr>
            <a:r>
              <a:rPr lang="en-US" sz="1400" dirty="0">
                <a:solidFill>
                  <a:schemeClr val="accent6"/>
                </a:solidFill>
              </a:rPr>
              <a:t>Median, сая ₮</a:t>
            </a:r>
            <a:endParaRPr lang="en-US" sz="1400" dirty="0"/>
          </a:p>
        </p:txBody>
      </p:sp>
      <p:sp>
        <p:nvSpPr>
          <p:cNvPr id="6" name="stat Mean, сая ₮"/>
          <p:cNvSpPr/>
          <p:nvPr/>
        </p:nvSpPr>
        <p:spPr>
          <a:xfrm>
            <a:off x="3337560" y="1463040"/>
            <a:ext cx="2606040" cy="1600200"/>
          </a:xfrm>
          <a:prstGeom prst="roundRect">
            <a:avLst>
              <a:gd name="adj" fmla="val 6857"/>
            </a:avLst>
          </a:prstGeom>
          <a:solidFill>
            <a:schemeClr val="bg2"/>
          </a:solidFill>
          <a:ln w="12700">
            <a:solidFill>
              <a:schemeClr val="bg2"/>
            </a:solidFill>
            <a:prstDash val="solid"/>
          </a:ln>
        </p:spPr>
      </p:sp>
      <p:sp>
        <p:nvSpPr>
          <p:cNvPr id="7" name="Text 5"/>
          <p:cNvSpPr txBox="1"/>
          <p:nvPr/>
        </p:nvSpPr>
        <p:spPr>
          <a:xfrm>
            <a:off x="3611880" y="1664208"/>
            <a:ext cx="2057400" cy="731520"/>
          </a:xfrm>
          <a:prstGeom prst="rect">
            <a:avLst/>
          </a:prstGeom>
          <a:noFill/>
          <a:ln/>
        </p:spPr>
        <p:txBody>
          <a:bodyPr wrap="square" lIns="0" tIns="0" rIns="0" bIns="0" rtlCol="0" anchor="t"/>
          <a:lstStyle/>
          <a:p>
            <a:pPr indent="0" marL="0">
              <a:buNone/>
            </a:pPr>
            <a:r>
              <a:rPr lang="en-US" sz="3600" b="1" dirty="0">
                <a:solidFill>
                  <a:schemeClr val="tx2"/>
                </a:solidFill>
                <a:latin typeface="Cambria" pitchFamily="34" charset="0"/>
                <a:ea typeface="Cambria" pitchFamily="34" charset="-122"/>
                <a:cs typeface="Cambria" pitchFamily="34" charset="-120"/>
              </a:rPr>
              <a:t>1.85</a:t>
            </a:r>
            <a:endParaRPr lang="en-US" sz="3600" dirty="0"/>
          </a:p>
        </p:txBody>
      </p:sp>
      <p:sp>
        <p:nvSpPr>
          <p:cNvPr id="8" name="Text 6"/>
          <p:cNvSpPr txBox="1"/>
          <p:nvPr/>
        </p:nvSpPr>
        <p:spPr>
          <a:xfrm>
            <a:off x="3611880" y="2377440"/>
            <a:ext cx="2057400" cy="594360"/>
          </a:xfrm>
          <a:prstGeom prst="rect">
            <a:avLst/>
          </a:prstGeom>
          <a:noFill/>
          <a:ln/>
        </p:spPr>
        <p:txBody>
          <a:bodyPr wrap="square" lIns="0" tIns="0" rIns="0" bIns="0" rtlCol="0" anchor="t"/>
          <a:lstStyle/>
          <a:p>
            <a:pPr indent="0" marL="0">
              <a:buNone/>
            </a:pPr>
            <a:r>
              <a:rPr lang="en-US" sz="1400" dirty="0">
                <a:solidFill>
                  <a:schemeClr val="accent6"/>
                </a:solidFill>
              </a:rPr>
              <a:t>Mean, сая ₮</a:t>
            </a:r>
            <a:endParaRPr lang="en-US" sz="1400" dirty="0"/>
          </a:p>
        </p:txBody>
      </p:sp>
      <p:sp>
        <p:nvSpPr>
          <p:cNvPr id="9" name="stat Mode, сая ₮"/>
          <p:cNvSpPr/>
          <p:nvPr/>
        </p:nvSpPr>
        <p:spPr>
          <a:xfrm>
            <a:off x="6126480" y="1463040"/>
            <a:ext cx="2606040" cy="1600200"/>
          </a:xfrm>
          <a:prstGeom prst="roundRect">
            <a:avLst>
              <a:gd name="adj" fmla="val 6857"/>
            </a:avLst>
          </a:prstGeom>
          <a:solidFill>
            <a:schemeClr val="bg2"/>
          </a:solidFill>
          <a:ln w="12700">
            <a:solidFill>
              <a:schemeClr val="bg2"/>
            </a:solidFill>
            <a:prstDash val="solid"/>
          </a:ln>
        </p:spPr>
      </p:sp>
      <p:sp>
        <p:nvSpPr>
          <p:cNvPr id="10" name="Text 8"/>
          <p:cNvSpPr txBox="1"/>
          <p:nvPr/>
        </p:nvSpPr>
        <p:spPr>
          <a:xfrm>
            <a:off x="6400800" y="1664208"/>
            <a:ext cx="2057400" cy="731520"/>
          </a:xfrm>
          <a:prstGeom prst="rect">
            <a:avLst/>
          </a:prstGeom>
          <a:noFill/>
          <a:ln/>
        </p:spPr>
        <p:txBody>
          <a:bodyPr wrap="square" lIns="0" tIns="0" rIns="0" bIns="0" rtlCol="0" anchor="t"/>
          <a:lstStyle/>
          <a:p>
            <a:pPr indent="0" marL="0">
              <a:buNone/>
            </a:pPr>
            <a:r>
              <a:rPr lang="en-US" sz="3600" b="1" dirty="0">
                <a:solidFill>
                  <a:schemeClr val="tx2"/>
                </a:solidFill>
                <a:latin typeface="Cambria" pitchFamily="34" charset="0"/>
                <a:ea typeface="Cambria" pitchFamily="34" charset="-122"/>
                <a:cs typeface="Cambria" pitchFamily="34" charset="-120"/>
              </a:rPr>
              <a:t>2.0</a:t>
            </a:r>
            <a:endParaRPr lang="en-US" sz="3600" dirty="0"/>
          </a:p>
        </p:txBody>
      </p:sp>
      <p:sp>
        <p:nvSpPr>
          <p:cNvPr id="11" name="Text 9"/>
          <p:cNvSpPr txBox="1"/>
          <p:nvPr/>
        </p:nvSpPr>
        <p:spPr>
          <a:xfrm>
            <a:off x="6400800" y="2377440"/>
            <a:ext cx="2057400" cy="594360"/>
          </a:xfrm>
          <a:prstGeom prst="rect">
            <a:avLst/>
          </a:prstGeom>
          <a:noFill/>
          <a:ln/>
        </p:spPr>
        <p:txBody>
          <a:bodyPr wrap="square" lIns="0" tIns="0" rIns="0" bIns="0" rtlCol="0" anchor="t"/>
          <a:lstStyle/>
          <a:p>
            <a:pPr indent="0" marL="0">
              <a:buNone/>
            </a:pPr>
            <a:r>
              <a:rPr lang="en-US" sz="1400" dirty="0">
                <a:solidFill>
                  <a:schemeClr val="accent6"/>
                </a:solidFill>
              </a:rPr>
              <a:t>Mode, сая ₮</a:t>
            </a:r>
            <a:endParaRPr lang="en-US" sz="1400" dirty="0"/>
          </a:p>
        </p:txBody>
      </p:sp>
      <p:sp>
        <p:nvSpPr>
          <p:cNvPr id="12" name="stat Std, сая ₮"/>
          <p:cNvSpPr/>
          <p:nvPr/>
        </p:nvSpPr>
        <p:spPr>
          <a:xfrm>
            <a:off x="8915400" y="1463040"/>
            <a:ext cx="2697480" cy="1600200"/>
          </a:xfrm>
          <a:prstGeom prst="roundRect">
            <a:avLst>
              <a:gd name="adj" fmla="val 6857"/>
            </a:avLst>
          </a:prstGeom>
          <a:solidFill>
            <a:schemeClr val="bg2"/>
          </a:solidFill>
          <a:ln w="12700">
            <a:solidFill>
              <a:schemeClr val="bg2"/>
            </a:solidFill>
            <a:prstDash val="solid"/>
          </a:ln>
        </p:spPr>
      </p:sp>
      <p:sp>
        <p:nvSpPr>
          <p:cNvPr id="13" name="Text 11"/>
          <p:cNvSpPr txBox="1"/>
          <p:nvPr/>
        </p:nvSpPr>
        <p:spPr>
          <a:xfrm>
            <a:off x="9189720" y="1664208"/>
            <a:ext cx="2148840" cy="731520"/>
          </a:xfrm>
          <a:prstGeom prst="rect">
            <a:avLst/>
          </a:prstGeom>
          <a:noFill/>
          <a:ln/>
        </p:spPr>
        <p:txBody>
          <a:bodyPr wrap="square" lIns="0" tIns="0" rIns="0" bIns="0" rtlCol="0" anchor="t"/>
          <a:lstStyle/>
          <a:p>
            <a:pPr indent="0" marL="0">
              <a:buNone/>
            </a:pPr>
            <a:r>
              <a:rPr lang="en-US" sz="3600" b="1" dirty="0">
                <a:solidFill>
                  <a:schemeClr val="tx2"/>
                </a:solidFill>
                <a:latin typeface="Cambria" pitchFamily="34" charset="0"/>
                <a:ea typeface="Cambria" pitchFamily="34" charset="-122"/>
                <a:cs typeface="Cambria" pitchFamily="34" charset="-120"/>
              </a:rPr>
              <a:t>0.92</a:t>
            </a:r>
            <a:endParaRPr lang="en-US" sz="3600" dirty="0"/>
          </a:p>
        </p:txBody>
      </p:sp>
      <p:sp>
        <p:nvSpPr>
          <p:cNvPr id="14" name="Text 12"/>
          <p:cNvSpPr txBox="1"/>
          <p:nvPr/>
        </p:nvSpPr>
        <p:spPr>
          <a:xfrm>
            <a:off x="9189720" y="2377440"/>
            <a:ext cx="2148840" cy="594360"/>
          </a:xfrm>
          <a:prstGeom prst="rect">
            <a:avLst/>
          </a:prstGeom>
          <a:noFill/>
          <a:ln/>
        </p:spPr>
        <p:txBody>
          <a:bodyPr wrap="square" lIns="0" tIns="0" rIns="0" bIns="0" rtlCol="0" anchor="t"/>
          <a:lstStyle/>
          <a:p>
            <a:pPr indent="0" marL="0">
              <a:buNone/>
            </a:pPr>
            <a:r>
              <a:rPr lang="en-US" sz="1400" dirty="0">
                <a:solidFill>
                  <a:schemeClr val="accent6"/>
                </a:solidFill>
              </a:rPr>
              <a:t>Std, сая ₮</a:t>
            </a:r>
            <a:endParaRPr lang="en-US" sz="1400" dirty="0"/>
          </a:p>
        </p:txBody>
      </p:sp>
      <p:sp>
        <p:nvSpPr>
          <p:cNvPr id="15" name="stat Q1–Q3, сая ₮"/>
          <p:cNvSpPr/>
          <p:nvPr/>
        </p:nvSpPr>
        <p:spPr>
          <a:xfrm>
            <a:off x="548640" y="3291840"/>
            <a:ext cx="2606040" cy="1600200"/>
          </a:xfrm>
          <a:prstGeom prst="roundRect">
            <a:avLst>
              <a:gd name="adj" fmla="val 6857"/>
            </a:avLst>
          </a:prstGeom>
          <a:solidFill>
            <a:schemeClr val="bg2"/>
          </a:solidFill>
          <a:ln w="12700">
            <a:solidFill>
              <a:schemeClr val="bg2"/>
            </a:solidFill>
            <a:prstDash val="solid"/>
          </a:ln>
        </p:spPr>
      </p:sp>
      <p:sp>
        <p:nvSpPr>
          <p:cNvPr id="16" name="Text 14"/>
          <p:cNvSpPr txBox="1"/>
          <p:nvPr/>
        </p:nvSpPr>
        <p:spPr>
          <a:xfrm>
            <a:off x="822960" y="3493008"/>
            <a:ext cx="2057400" cy="731520"/>
          </a:xfrm>
          <a:prstGeom prst="rect">
            <a:avLst/>
          </a:prstGeom>
          <a:noFill/>
          <a:ln/>
        </p:spPr>
        <p:txBody>
          <a:bodyPr wrap="square" lIns="0" tIns="0" rIns="0" bIns="0" rtlCol="0" anchor="t"/>
          <a:lstStyle/>
          <a:p>
            <a:pPr indent="0" marL="0">
              <a:buNone/>
            </a:pPr>
            <a:r>
              <a:rPr lang="en-US" sz="3600" b="1" dirty="0">
                <a:solidFill>
                  <a:schemeClr val="tx2"/>
                </a:solidFill>
                <a:latin typeface="Cambria" pitchFamily="34" charset="0"/>
                <a:ea typeface="Cambria" pitchFamily="34" charset="-122"/>
                <a:cs typeface="Cambria" pitchFamily="34" charset="-120"/>
              </a:rPr>
              <a:t>1.2–2.2</a:t>
            </a:r>
            <a:endParaRPr lang="en-US" sz="3600" dirty="0"/>
          </a:p>
        </p:txBody>
      </p:sp>
      <p:sp>
        <p:nvSpPr>
          <p:cNvPr id="17" name="Text 15"/>
          <p:cNvSpPr txBox="1"/>
          <p:nvPr/>
        </p:nvSpPr>
        <p:spPr>
          <a:xfrm>
            <a:off x="822960" y="4206240"/>
            <a:ext cx="2057400" cy="594360"/>
          </a:xfrm>
          <a:prstGeom prst="rect">
            <a:avLst/>
          </a:prstGeom>
          <a:noFill/>
          <a:ln/>
        </p:spPr>
        <p:txBody>
          <a:bodyPr wrap="square" lIns="0" tIns="0" rIns="0" bIns="0" rtlCol="0" anchor="t"/>
          <a:lstStyle/>
          <a:p>
            <a:pPr indent="0" marL="0">
              <a:buNone/>
            </a:pPr>
            <a:r>
              <a:rPr lang="en-US" sz="1400" dirty="0">
                <a:solidFill>
                  <a:schemeClr val="accent6"/>
                </a:solidFill>
              </a:rPr>
              <a:t>Q1–Q3, сая ₮</a:t>
            </a:r>
            <a:endParaRPr lang="en-US" sz="1400" dirty="0"/>
          </a:p>
        </p:txBody>
      </p:sp>
      <p:sp>
        <p:nvSpPr>
          <p:cNvPr id="18" name="stat Min–Max, сая ₮"/>
          <p:cNvSpPr/>
          <p:nvPr/>
        </p:nvSpPr>
        <p:spPr>
          <a:xfrm>
            <a:off x="3337560" y="3291840"/>
            <a:ext cx="2606040" cy="1600200"/>
          </a:xfrm>
          <a:prstGeom prst="roundRect">
            <a:avLst>
              <a:gd name="adj" fmla="val 6857"/>
            </a:avLst>
          </a:prstGeom>
          <a:solidFill>
            <a:schemeClr val="bg2"/>
          </a:solidFill>
          <a:ln w="12700">
            <a:solidFill>
              <a:schemeClr val="bg2"/>
            </a:solidFill>
            <a:prstDash val="solid"/>
          </a:ln>
        </p:spPr>
      </p:sp>
      <p:sp>
        <p:nvSpPr>
          <p:cNvPr id="19" name="Text 17"/>
          <p:cNvSpPr txBox="1"/>
          <p:nvPr/>
        </p:nvSpPr>
        <p:spPr>
          <a:xfrm>
            <a:off x="3611880" y="3493008"/>
            <a:ext cx="2057400" cy="731520"/>
          </a:xfrm>
          <a:prstGeom prst="rect">
            <a:avLst/>
          </a:prstGeom>
          <a:noFill/>
          <a:ln/>
        </p:spPr>
        <p:txBody>
          <a:bodyPr wrap="square" lIns="0" tIns="0" rIns="0" bIns="0" rtlCol="0" anchor="t"/>
          <a:lstStyle/>
          <a:p>
            <a:pPr indent="0" marL="0">
              <a:buNone/>
            </a:pPr>
            <a:r>
              <a:rPr lang="en-US" sz="3600" b="1" dirty="0">
                <a:solidFill>
                  <a:schemeClr val="tx2"/>
                </a:solidFill>
                <a:latin typeface="Cambria" pitchFamily="34" charset="0"/>
                <a:ea typeface="Cambria" pitchFamily="34" charset="-122"/>
                <a:cs typeface="Cambria" pitchFamily="34" charset="-120"/>
              </a:rPr>
              <a:t>0.18–12.5</a:t>
            </a:r>
            <a:endParaRPr lang="en-US" sz="3600" dirty="0"/>
          </a:p>
        </p:txBody>
      </p:sp>
      <p:sp>
        <p:nvSpPr>
          <p:cNvPr id="20" name="Text 18"/>
          <p:cNvSpPr txBox="1"/>
          <p:nvPr/>
        </p:nvSpPr>
        <p:spPr>
          <a:xfrm>
            <a:off x="3611880" y="4206240"/>
            <a:ext cx="2057400" cy="594360"/>
          </a:xfrm>
          <a:prstGeom prst="rect">
            <a:avLst/>
          </a:prstGeom>
          <a:noFill/>
          <a:ln/>
        </p:spPr>
        <p:txBody>
          <a:bodyPr wrap="square" lIns="0" tIns="0" rIns="0" bIns="0" rtlCol="0" anchor="t"/>
          <a:lstStyle/>
          <a:p>
            <a:pPr indent="0" marL="0">
              <a:buNone/>
            </a:pPr>
            <a:r>
              <a:rPr lang="en-US" sz="1400" dirty="0">
                <a:solidFill>
                  <a:schemeClr val="accent6"/>
                </a:solidFill>
              </a:rPr>
              <a:t>Min–Max, сая ₮</a:t>
            </a:r>
            <a:endParaRPr lang="en-US" sz="1400" dirty="0"/>
          </a:p>
        </p:txBody>
      </p:sp>
      <p:sp>
        <p:nvSpPr>
          <p:cNvPr id="21" name="takeaway"/>
          <p:cNvSpPr/>
          <p:nvPr/>
        </p:nvSpPr>
        <p:spPr>
          <a:xfrm>
            <a:off x="6126480" y="3291840"/>
            <a:ext cx="5486400" cy="2697480"/>
          </a:xfrm>
          <a:prstGeom prst="roundRect">
            <a:avLst>
              <a:gd name="adj" fmla="val 4068"/>
            </a:avLst>
          </a:prstGeom>
          <a:solidFill>
            <a:schemeClr val="bg2"/>
          </a:solidFill>
          <a:ln w="12700">
            <a:solidFill>
              <a:schemeClr val="bg2"/>
            </a:solidFill>
            <a:prstDash val="solid"/>
          </a:ln>
        </p:spPr>
      </p:sp>
      <p:sp>
        <p:nvSpPr>
          <p:cNvPr id="22" name="Text 20"/>
          <p:cNvSpPr txBox="1"/>
          <p:nvPr/>
        </p:nvSpPr>
        <p:spPr>
          <a:xfrm>
            <a:off x="6400800" y="3520440"/>
            <a:ext cx="4937760" cy="365760"/>
          </a:xfrm>
          <a:prstGeom prst="rect">
            <a:avLst/>
          </a:prstGeom>
          <a:noFill/>
          <a:ln/>
        </p:spPr>
        <p:txBody>
          <a:bodyPr wrap="square" lIns="0" tIns="0" rIns="0" bIns="0" rtlCol="0" anchor="t"/>
          <a:lstStyle/>
          <a:p>
            <a:pPr indent="0" marL="0">
              <a:buNone/>
            </a:pPr>
            <a:r>
              <a:rPr lang="en-US" sz="1800" b="1" dirty="0">
                <a:solidFill>
                  <a:schemeClr val="tx2"/>
                </a:solidFill>
              </a:rPr>
              <a:t>Тайлбар</a:t>
            </a:r>
            <a:endParaRPr lang="en-US" sz="1800" dirty="0"/>
          </a:p>
        </p:txBody>
      </p:sp>
      <p:sp>
        <p:nvSpPr>
          <p:cNvPr id="23" name="Text 21"/>
          <p:cNvSpPr txBox="1"/>
          <p:nvPr/>
        </p:nvSpPr>
        <p:spPr>
          <a:xfrm>
            <a:off x="6400800" y="4023360"/>
            <a:ext cx="4983480" cy="17830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Mean &gt; Median: өндөр цалинтай цөөн хүн дунджийг өсгөнө</a:t>
            </a:r>
            <a:endParaRPr lang="en-US" sz="1500" dirty="0"/>
          </a:p>
          <a:p>
            <a:pPr marL="342900" indent="-342900">
              <a:spcAft>
                <a:spcPts val="800"/>
              </a:spcAft>
              <a:buSzPct val="100000"/>
              <a:buChar char="•"/>
            </a:pPr>
            <a:r>
              <a:rPr lang="en-US" sz="1500" dirty="0">
                <a:solidFill>
                  <a:schemeClr val="tx1"/>
                </a:solidFill>
              </a:rPr>
              <a:t>Std ≈ дунджийн 50% — цалин их ялгаатай</a:t>
            </a:r>
            <a:endParaRPr lang="en-US" sz="1500" dirty="0"/>
          </a:p>
          <a:p>
            <a:pPr marL="342900" indent="-342900">
              <a:spcAft>
                <a:spcPts val="800"/>
              </a:spcAft>
              <a:buSzPct val="100000"/>
              <a:buChar char="•"/>
            </a:pPr>
            <a:r>
              <a:rPr lang="en-US" sz="1500" dirty="0">
                <a:solidFill>
                  <a:schemeClr val="tx1"/>
                </a:solidFill>
              </a:rPr>
              <a:t>Тиймээс median-ийг гол үзүүлэлт болгов</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Тархалт баруун тийш хазайсан</a:t>
            </a:r>
            <a:endParaRPr lang="en-US" sz="3200" dirty="0"/>
          </a:p>
        </p:txBody>
      </p:sp>
      <p:graphicFrame>
        <p:nvGraphicFramePr>
          <p:cNvPr id="3" name="Chart 0" descr=""/>
          <p:cNvGraphicFramePr/>
          <p:nvPr/>
        </p:nvGraphicFramePr>
        <p:xfrm>
          <a:off x="548640" y="1325880"/>
          <a:ext cx="7680960" cy="4846320"/>
        </p:xfrm>
        <a:graphic xmlns:a="http://schemas.openxmlformats.org/drawingml/2006/main">
          <a:graphicData uri="http://schemas.openxmlformats.org/drawingml/2006/chart">
            <c:chart xmlns:c="http://schemas.openxmlformats.org/drawingml/2006/chart" r:id="rId1"/>
          </a:graphicData>
        </a:graphic>
      </p:graphicFrame>
      <p:sp>
        <p:nvSpPr>
          <p:cNvPr id="4" name="takeaway"/>
          <p:cNvSpPr/>
          <p:nvPr/>
        </p:nvSpPr>
        <p:spPr>
          <a:xfrm>
            <a:off x="8503920" y="1417320"/>
            <a:ext cx="3108960" cy="4663440"/>
          </a:xfrm>
          <a:prstGeom prst="roundRect">
            <a:avLst>
              <a:gd name="adj" fmla="val 3529"/>
            </a:avLst>
          </a:prstGeom>
          <a:solidFill>
            <a:schemeClr val="bg2"/>
          </a:solidFill>
          <a:ln w="12700">
            <a:solidFill>
              <a:schemeClr val="bg2"/>
            </a:solidFill>
            <a:prstDash val="solid"/>
          </a:ln>
        </p:spPr>
      </p:sp>
      <p:sp>
        <p:nvSpPr>
          <p:cNvPr id="5" name="Text 2"/>
          <p:cNvSpPr txBox="1"/>
          <p:nvPr/>
        </p:nvSpPr>
        <p:spPr>
          <a:xfrm>
            <a:off x="8778240" y="1645920"/>
            <a:ext cx="2560320" cy="365760"/>
          </a:xfrm>
          <a:prstGeom prst="rect">
            <a:avLst/>
          </a:prstGeom>
          <a:noFill/>
          <a:ln/>
        </p:spPr>
        <p:txBody>
          <a:bodyPr wrap="square" lIns="0" tIns="0" rIns="0" bIns="0" rtlCol="0" anchor="t"/>
          <a:lstStyle/>
          <a:p>
            <a:pPr indent="0" marL="0">
              <a:buNone/>
            </a:pPr>
            <a:r>
              <a:rPr lang="en-US" sz="1800" b="1" dirty="0">
                <a:solidFill>
                  <a:schemeClr val="tx2"/>
                </a:solidFill>
              </a:rPr>
              <a:t>Юу харагдаж байна</a:t>
            </a:r>
            <a:endParaRPr lang="en-US" sz="1800" dirty="0"/>
          </a:p>
        </p:txBody>
      </p:sp>
      <p:sp>
        <p:nvSpPr>
          <p:cNvPr id="6" name="Text 3"/>
          <p:cNvSpPr txBox="1"/>
          <p:nvPr/>
        </p:nvSpPr>
        <p:spPr>
          <a:xfrm>
            <a:off x="8778240" y="2148840"/>
            <a:ext cx="2606040" cy="3749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Ихэнх нь 1.2–2.2 сая ₮-д бөөгнөрсөн</a:t>
            </a:r>
            <a:endParaRPr lang="en-US" sz="1500" dirty="0"/>
          </a:p>
          <a:p>
            <a:pPr marL="342900" indent="-342900">
              <a:spcAft>
                <a:spcPts val="800"/>
              </a:spcAft>
              <a:buSzPct val="100000"/>
              <a:buChar char="•"/>
            </a:pPr>
            <a:r>
              <a:rPr lang="en-US" sz="1500" dirty="0">
                <a:solidFill>
                  <a:schemeClr val="tx1"/>
                </a:solidFill>
              </a:rPr>
              <a:t>Баруун сүүл 12.5 сая ₮ хүртэл</a:t>
            </a:r>
            <a:endParaRPr lang="en-US" sz="1500" dirty="0"/>
          </a:p>
          <a:p>
            <a:pPr marL="342900" indent="-342900">
              <a:spcAft>
                <a:spcPts val="800"/>
              </a:spcAft>
              <a:buSzPct val="100000"/>
              <a:buChar char="•"/>
            </a:pPr>
            <a:r>
              <a:rPr lang="en-US" sz="1500" dirty="0">
                <a:solidFill>
                  <a:schemeClr val="tx1"/>
                </a:solidFill>
              </a:rPr>
              <a:t>1.5 ба 2.0 сая ₮ дээр шовх: хүмүүс цалингаа бөөрөнхийлж хэлдэг</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Эмэгтэйчүүдийн median цалин 25%-иар бага</a:t>
            </a:r>
            <a:endParaRPr lang="en-US" sz="3200" dirty="0"/>
          </a:p>
        </p:txBody>
      </p:sp>
      <p:graphicFrame>
        <p:nvGraphicFramePr>
          <p:cNvPr id="3" name="Chart 0" descr=""/>
          <p:cNvGraphicFramePr/>
          <p:nvPr/>
        </p:nvGraphicFramePr>
        <p:xfrm>
          <a:off x="548640" y="1325880"/>
          <a:ext cx="5486400" cy="484632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sex table"/>
          <p:cNvGraphicFramePr>
            <a:graphicFrameLocks noGrp="1"/>
          </p:cNvGraphicFramePr>
          <p:nvPr>
            <p:extLst>
              <p:ext uri="{D42A27DB-BD31-4B8C-83A1-F6EECF244321}">
                <p14:modId xmlns:p14="http://schemas.microsoft.com/office/powerpoint/2010/main" val="1579011935"/>
              </p:ext>
            </p:extLst>
          </p:nvPr>
        </p:nvGraphicFramePr>
        <p:xfrm>
          <a:off x="6400800" y="1463040"/>
          <a:ext cx="5212080" cy="914400"/>
        </p:xfrm>
        <a:graphic>
          <a:graphicData uri="http://schemas.openxmlformats.org/drawingml/2006/table">
            <a:tbl>
              <a:tblPr/>
              <a:tblGrid>
                <a:gridCol w="2103120"/>
                <a:gridCol w="1554480"/>
                <a:gridCol w="1554480"/>
              </a:tblGrid>
              <a:tr h="502920">
                <a:tc>
                  <a:txBody>
                    <a:bodyPr/>
                    <a:lstStyle/>
                    <a:p>
                      <a:pPr indent="0" marL="0">
                        <a:buNone/>
                      </a:pPr>
                      <a:endParaRPr lang="en-US" sz="15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Эрэгтэй</a:t>
                      </a:r>
                      <a:endParaRPr lang="en-US" sz="15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Эмэгтэй</a:t>
                      </a:r>
                      <a:endParaRPr lang="en-US" sz="15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solidFill>
                      <a:schemeClr val="tx2"/>
                    </a:solidFill>
                  </a:tcPr>
                </a:tc>
              </a:tr>
              <a:tr h="502920">
                <a:tc>
                  <a:txBody>
                    <a:bodyPr/>
                    <a:lstStyle/>
                    <a:p>
                      <a:pPr indent="0" marL="0">
                        <a:buNone/>
                      </a:pPr>
                      <a:r>
                        <a:rPr lang="en-US" sz="1500" dirty="0">
                          <a:solidFill>
                            <a:srgbClr val="1B2B30"/>
                          </a:solidFill>
                          <a:latin typeface="Calibri" pitchFamily="34" charset="0"/>
                          <a:ea typeface="Calibri" pitchFamily="34" charset="-122"/>
                          <a:cs typeface="Calibri" pitchFamily="34" charset="-120"/>
                        </a:rPr>
                        <a:t>Хүний тоо</a:t>
                      </a:r>
                      <a:endParaRPr lang="en-US" sz="15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tcPr>
                </a:tc>
                <a:tc>
                  <a:txBody>
                    <a:bodyPr/>
                    <a:lstStyle/>
                    <a:p>
                      <a:pPr indent="0" marL="0">
                        <a:buNone/>
                      </a:pPr>
                      <a:r>
                        <a:rPr lang="en-US" sz="1500" dirty="0">
                          <a:solidFill>
                            <a:srgbClr val="1B2B30"/>
                          </a:solidFill>
                          <a:latin typeface="Calibri" pitchFamily="34" charset="0"/>
                          <a:ea typeface="Calibri" pitchFamily="34" charset="-122"/>
                          <a:cs typeface="Calibri" pitchFamily="34" charset="-120"/>
                        </a:rPr>
                        <a:t>5,377</a:t>
                      </a:r>
                      <a:endParaRPr lang="en-US" sz="15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tcPr>
                </a:tc>
                <a:tc>
                  <a:txBody>
                    <a:bodyPr/>
                    <a:lstStyle/>
                    <a:p>
                      <a:pPr indent="0" marL="0">
                        <a:buNone/>
                      </a:pPr>
                      <a:r>
                        <a:rPr lang="en-US" sz="1500" dirty="0">
                          <a:solidFill>
                            <a:srgbClr val="1B2B30"/>
                          </a:solidFill>
                          <a:latin typeface="Calibri" pitchFamily="34" charset="0"/>
                          <a:ea typeface="Calibri" pitchFamily="34" charset="-122"/>
                          <a:cs typeface="Calibri" pitchFamily="34" charset="-120"/>
                        </a:rPr>
                        <a:t>5,176</a:t>
                      </a:r>
                      <a:endParaRPr lang="en-US" sz="15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tcPr>
                </a:tc>
              </a:tr>
              <a:tr h="502920">
                <a:tc>
                  <a:txBody>
                    <a:bodyPr/>
                    <a:lstStyle/>
                    <a:p>
                      <a:pPr indent="0" marL="0">
                        <a:buNone/>
                      </a:pPr>
                      <a:r>
                        <a:rPr lang="en-US" sz="1500" dirty="0">
                          <a:solidFill>
                            <a:srgbClr val="1B2B30"/>
                          </a:solidFill>
                          <a:latin typeface="Calibri" pitchFamily="34" charset="0"/>
                          <a:ea typeface="Calibri" pitchFamily="34" charset="-122"/>
                          <a:cs typeface="Calibri" pitchFamily="34" charset="-120"/>
                        </a:rPr>
                        <a:t>Median, сая ₮</a:t>
                      </a:r>
                      <a:endParaRPr lang="en-US" sz="15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tcPr>
                </a:tc>
                <a:tc>
                  <a:txBody>
                    <a:bodyPr/>
                    <a:lstStyle/>
                    <a:p>
                      <a:pPr indent="0" marL="0">
                        <a:buNone/>
                      </a:pPr>
                      <a:r>
                        <a:rPr lang="en-US" sz="1500" dirty="0">
                          <a:solidFill>
                            <a:srgbClr val="1B2B30"/>
                          </a:solidFill>
                          <a:latin typeface="Calibri" pitchFamily="34" charset="0"/>
                          <a:ea typeface="Calibri" pitchFamily="34" charset="-122"/>
                          <a:cs typeface="Calibri" pitchFamily="34" charset="-120"/>
                        </a:rPr>
                        <a:t>2.00</a:t>
                      </a:r>
                      <a:endParaRPr lang="en-US" sz="15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tcPr>
                </a:tc>
                <a:tc>
                  <a:txBody>
                    <a:bodyPr/>
                    <a:lstStyle/>
                    <a:p>
                      <a:pPr indent="0" marL="0">
                        <a:buNone/>
                      </a:pPr>
                      <a:r>
                        <a:rPr lang="en-US" sz="1500" dirty="0">
                          <a:solidFill>
                            <a:srgbClr val="1B2B30"/>
                          </a:solidFill>
                          <a:latin typeface="Calibri" pitchFamily="34" charset="0"/>
                          <a:ea typeface="Calibri" pitchFamily="34" charset="-122"/>
                          <a:cs typeface="Calibri" pitchFamily="34" charset="-120"/>
                        </a:rPr>
                        <a:t>1.50</a:t>
                      </a:r>
                      <a:endParaRPr lang="en-US" sz="15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tcPr>
                </a:tc>
              </a:tr>
              <a:tr h="502920">
                <a:tc>
                  <a:txBody>
                    <a:bodyPr/>
                    <a:lstStyle/>
                    <a:p>
                      <a:pPr indent="0" marL="0">
                        <a:buNone/>
                      </a:pPr>
                      <a:r>
                        <a:rPr lang="en-US" sz="1500" dirty="0">
                          <a:solidFill>
                            <a:srgbClr val="1B2B30"/>
                          </a:solidFill>
                          <a:latin typeface="Calibri" pitchFamily="34" charset="0"/>
                          <a:ea typeface="Calibri" pitchFamily="34" charset="-122"/>
                          <a:cs typeface="Calibri" pitchFamily="34" charset="-120"/>
                        </a:rPr>
                        <a:t>Mean, сая ₮</a:t>
                      </a:r>
                      <a:endParaRPr lang="en-US" sz="15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tcPr>
                </a:tc>
                <a:tc>
                  <a:txBody>
                    <a:bodyPr/>
                    <a:lstStyle/>
                    <a:p>
                      <a:pPr indent="0" marL="0">
                        <a:buNone/>
                      </a:pPr>
                      <a:r>
                        <a:rPr lang="en-US" sz="1500" dirty="0">
                          <a:solidFill>
                            <a:srgbClr val="1B2B30"/>
                          </a:solidFill>
                          <a:latin typeface="Calibri" pitchFamily="34" charset="0"/>
                          <a:ea typeface="Calibri" pitchFamily="34" charset="-122"/>
                          <a:cs typeface="Calibri" pitchFamily="34" charset="-120"/>
                        </a:rPr>
                        <a:t>2.07</a:t>
                      </a:r>
                      <a:endParaRPr lang="en-US" sz="15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tcPr>
                </a:tc>
                <a:tc>
                  <a:txBody>
                    <a:bodyPr/>
                    <a:lstStyle/>
                    <a:p>
                      <a:pPr indent="0" marL="0">
                        <a:buNone/>
                      </a:pPr>
                      <a:r>
                        <a:rPr lang="en-US" sz="1500" dirty="0">
                          <a:solidFill>
                            <a:srgbClr val="1B2B30"/>
                          </a:solidFill>
                          <a:latin typeface="Calibri" pitchFamily="34" charset="0"/>
                          <a:ea typeface="Calibri" pitchFamily="34" charset="-122"/>
                          <a:cs typeface="Calibri" pitchFamily="34" charset="-120"/>
                        </a:rPr>
                        <a:t>1.63</a:t>
                      </a:r>
                      <a:endParaRPr lang="en-US" sz="15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tcPr>
                </a:tc>
              </a:tr>
              <a:tr h="502920">
                <a:tc>
                  <a:txBody>
                    <a:bodyPr/>
                    <a:lstStyle/>
                    <a:p>
                      <a:pPr indent="0" marL="0">
                        <a:buNone/>
                      </a:pPr>
                      <a:r>
                        <a:rPr lang="en-US" sz="1500" dirty="0">
                          <a:solidFill>
                            <a:srgbClr val="1B2B30"/>
                          </a:solidFill>
                          <a:latin typeface="Calibri" pitchFamily="34" charset="0"/>
                          <a:ea typeface="Calibri" pitchFamily="34" charset="-122"/>
                          <a:cs typeface="Calibri" pitchFamily="34" charset="-120"/>
                        </a:rPr>
                        <a:t>Std, сая ₮</a:t>
                      </a:r>
                      <a:endParaRPr lang="en-US" sz="15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tcPr>
                </a:tc>
                <a:tc>
                  <a:txBody>
                    <a:bodyPr/>
                    <a:lstStyle/>
                    <a:p>
                      <a:pPr indent="0" marL="0">
                        <a:buNone/>
                      </a:pPr>
                      <a:r>
                        <a:rPr lang="en-US" sz="1500" dirty="0">
                          <a:solidFill>
                            <a:srgbClr val="1B2B30"/>
                          </a:solidFill>
                          <a:latin typeface="Calibri" pitchFamily="34" charset="0"/>
                          <a:ea typeface="Calibri" pitchFamily="34" charset="-122"/>
                          <a:cs typeface="Calibri" pitchFamily="34" charset="-120"/>
                        </a:rPr>
                        <a:t>1.05</a:t>
                      </a:r>
                      <a:endParaRPr lang="en-US" sz="15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tcPr>
                </a:tc>
                <a:tc>
                  <a:txBody>
                    <a:bodyPr/>
                    <a:lstStyle/>
                    <a:p>
                      <a:pPr indent="0" marL="0">
                        <a:buNone/>
                      </a:pPr>
                      <a:r>
                        <a:rPr lang="en-US" sz="1500" dirty="0">
                          <a:solidFill>
                            <a:srgbClr val="1B2B30"/>
                          </a:solidFill>
                          <a:latin typeface="Calibri" pitchFamily="34" charset="0"/>
                          <a:ea typeface="Calibri" pitchFamily="34" charset="-122"/>
                          <a:cs typeface="Calibri" pitchFamily="34" charset="-120"/>
                        </a:rPr>
                        <a:t>0.69</a:t>
                      </a:r>
                      <a:endParaRPr lang="en-US" sz="1500" dirty="0">
                        <a:latin typeface="Calibri" charset="0"/>
                        <a:ea typeface="Calibri" charset="0"/>
                        <a:cs typeface="Calibri" charset="0"/>
                      </a:endParaRPr>
                    </a:p>
                  </a:txBody>
                  <a:tcPr marL="91440" marR="91440" marT="45720" marB="45720" anchor="ctr">
                    <a:lnL w="6350" cap="flat" cmpd="sng" algn="ctr">
                      <a:solidFill>
                        <a:srgbClr val="E1E6E7"/>
                      </a:solidFill>
                      <a:prstDash val="solid"/>
                      <a:round/>
                      <a:headEnd type="none" w="med" len="med"/>
                      <a:tailEnd type="none" w="med" len="med"/>
                    </a:lnL>
                    <a:lnR w="6350" cap="flat" cmpd="sng" algn="ctr">
                      <a:solidFill>
                        <a:srgbClr val="E1E6E7"/>
                      </a:solidFill>
                      <a:prstDash val="solid"/>
                      <a:round/>
                      <a:headEnd type="none" w="med" len="med"/>
                      <a:tailEnd type="none" w="med" len="med"/>
                    </a:lnR>
                    <a:lnT w="6350" cap="flat" cmpd="sng" algn="ctr">
                      <a:solidFill>
                        <a:srgbClr val="E1E6E7"/>
                      </a:solidFill>
                      <a:prstDash val="solid"/>
                      <a:round/>
                      <a:headEnd type="none" w="med" len="med"/>
                      <a:tailEnd type="none" w="med" len="med"/>
                    </a:lnT>
                    <a:lnB w="6350" cap="flat" cmpd="sng" algn="ctr">
                      <a:solidFill>
                        <a:srgbClr val="E1E6E7"/>
                      </a:solidFill>
                      <a:prstDash val="solid"/>
                      <a:round/>
                      <a:headEnd type="none" w="med" len="med"/>
                      <a:tailEnd type="none" w="med" len="med"/>
                    </a:lnB>
                  </a:tcPr>
                </a:tc>
              </a:tr>
            </a:tbl>
          </a:graphicData>
        </a:graphic>
      </p:graphicFrame>
      <p:sp>
        <p:nvSpPr>
          <p:cNvPr id="5" name="Text 1"/>
          <p:cNvSpPr txBox="1"/>
          <p:nvPr/>
        </p:nvSpPr>
        <p:spPr>
          <a:xfrm>
            <a:off x="6400800" y="4251960"/>
            <a:ext cx="5212080" cy="1280160"/>
          </a:xfrm>
          <a:prstGeom prst="rect">
            <a:avLst/>
          </a:prstGeom>
          <a:noFill/>
          <a:ln/>
        </p:spPr>
        <p:txBody>
          <a:bodyPr wrap="square" lIns="0" tIns="0" rIns="0" bIns="0" rtlCol="0" anchor="t"/>
          <a:lstStyle/>
          <a:p>
            <a:pPr indent="0" marL="0">
              <a:buNone/>
            </a:pPr>
            <a:r>
              <a:rPr lang="en-US" sz="1400" i="1" dirty="0">
                <a:solidFill>
                  <a:schemeClr val="accent6"/>
                </a:solidFill>
              </a:rPr>
              <a:t>Анхаар: зөрүү нь мэргэжил, салбар, ажлын цагийн ялгаанаас үүдэлтэй байж болох тул зөвхөн хүйсийн нөлөө гэж дүгнэх боломжгүй.</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Боловсрол ахих тусам цалин өснө</a:t>
            </a:r>
            <a:endParaRPr lang="en-US" sz="3200" dirty="0"/>
          </a:p>
        </p:txBody>
      </p:sp>
      <p:graphicFrame>
        <p:nvGraphicFramePr>
          <p:cNvPr id="3" name="Chart 0" descr=""/>
          <p:cNvGraphicFramePr/>
          <p:nvPr/>
        </p:nvGraphicFramePr>
        <p:xfrm>
          <a:off x="548640" y="1325880"/>
          <a:ext cx="7498080" cy="4892040"/>
        </p:xfrm>
        <a:graphic xmlns:a="http://schemas.openxmlformats.org/drawingml/2006/main">
          <a:graphicData uri="http://schemas.openxmlformats.org/drawingml/2006/chart">
            <c:chart xmlns:c="http://schemas.openxmlformats.org/drawingml/2006/chart" r:id="rId1"/>
          </a:graphicData>
        </a:graphic>
      </p:graphicFrame>
      <p:sp>
        <p:nvSpPr>
          <p:cNvPr id="4" name="takeaway"/>
          <p:cNvSpPr/>
          <p:nvPr/>
        </p:nvSpPr>
        <p:spPr>
          <a:xfrm>
            <a:off x="8321040" y="1417320"/>
            <a:ext cx="3291840" cy="4663440"/>
          </a:xfrm>
          <a:prstGeom prst="roundRect">
            <a:avLst>
              <a:gd name="adj" fmla="val 3333"/>
            </a:avLst>
          </a:prstGeom>
          <a:solidFill>
            <a:schemeClr val="bg2"/>
          </a:solidFill>
          <a:ln w="12700">
            <a:solidFill>
              <a:schemeClr val="bg2"/>
            </a:solidFill>
            <a:prstDash val="solid"/>
          </a:ln>
        </p:spPr>
      </p:sp>
      <p:sp>
        <p:nvSpPr>
          <p:cNvPr id="5" name="Text 2"/>
          <p:cNvSpPr txBox="1"/>
          <p:nvPr/>
        </p:nvSpPr>
        <p:spPr>
          <a:xfrm>
            <a:off x="8595360" y="1645920"/>
            <a:ext cx="2743200" cy="365760"/>
          </a:xfrm>
          <a:prstGeom prst="rect">
            <a:avLst/>
          </a:prstGeom>
          <a:noFill/>
          <a:ln/>
        </p:spPr>
        <p:txBody>
          <a:bodyPr wrap="square" lIns="0" tIns="0" rIns="0" bIns="0" rtlCol="0" anchor="t"/>
          <a:lstStyle/>
          <a:p>
            <a:pPr indent="0" marL="0">
              <a:buNone/>
            </a:pPr>
            <a:r>
              <a:rPr lang="en-US" sz="1800" b="1" dirty="0">
                <a:solidFill>
                  <a:schemeClr val="tx2"/>
                </a:solidFill>
              </a:rPr>
              <a:t>Гол үр дүн</a:t>
            </a:r>
            <a:endParaRPr lang="en-US" sz="1800" dirty="0"/>
          </a:p>
        </p:txBody>
      </p:sp>
      <p:sp>
        <p:nvSpPr>
          <p:cNvPr id="6" name="Text 3"/>
          <p:cNvSpPr txBox="1"/>
          <p:nvPr/>
        </p:nvSpPr>
        <p:spPr>
          <a:xfrm>
            <a:off x="8595360" y="2148840"/>
            <a:ext cx="2788920" cy="3749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Бакалавр 1.8 сая — бүрэн дундаас (1.3) 38% өндөр</a:t>
            </a:r>
            <a:endParaRPr lang="en-US" sz="1500" dirty="0"/>
          </a:p>
          <a:p>
            <a:pPr marL="342900" indent="-342900">
              <a:spcAft>
                <a:spcPts val="800"/>
              </a:spcAft>
              <a:buSzPct val="100000"/>
              <a:buChar char="•"/>
            </a:pPr>
            <a:r>
              <a:rPr lang="en-US" sz="1500" dirty="0">
                <a:solidFill>
                  <a:schemeClr val="tx1"/>
                </a:solidFill>
              </a:rPr>
              <a:t>Магистр 2.0 сая — найдвартай бүлгүүдээс хамгийн өндөр</a:t>
            </a:r>
            <a:endParaRPr lang="en-US" sz="1500" dirty="0"/>
          </a:p>
          <a:p>
            <a:pPr marL="342900" indent="-342900">
              <a:spcAft>
                <a:spcPts val="800"/>
              </a:spcAft>
              <a:buSzPct val="100000"/>
              <a:buChar char="•"/>
            </a:pPr>
            <a:r>
              <a:rPr lang="en-US" sz="1500" dirty="0">
                <a:solidFill>
                  <a:schemeClr val="tx1"/>
                </a:solidFill>
              </a:rPr>
              <a:t>Зөрчил: суурь &lt; бага боловсрол</a:t>
            </a:r>
            <a:endParaRPr lang="en-US" sz="1500" dirty="0"/>
          </a:p>
          <a:p>
            <a:pPr marL="342900" indent="-342900">
              <a:spcAft>
                <a:spcPts val="800"/>
              </a:spcAft>
              <a:buSzPct val="100000"/>
              <a:buChar char="•"/>
            </a:pPr>
            <a:r>
              <a:rPr lang="en-US" sz="1500" dirty="0">
                <a:solidFill>
                  <a:schemeClr val="tx1"/>
                </a:solidFill>
              </a:rPr>
              <a:t>Доктор n=15 — найдвар багатай</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Цалин 25–44 насанд оргилдоо хүрнэ</a:t>
            </a:r>
            <a:endParaRPr lang="en-US" sz="3200" dirty="0"/>
          </a:p>
        </p:txBody>
      </p:sp>
      <p:graphicFrame>
        <p:nvGraphicFramePr>
          <p:cNvPr id="3" name="Chart 0" descr=""/>
          <p:cNvGraphicFramePr/>
          <p:nvPr/>
        </p:nvGraphicFramePr>
        <p:xfrm>
          <a:off x="548640" y="1325880"/>
          <a:ext cx="7498080" cy="4846320"/>
        </p:xfrm>
        <a:graphic xmlns:a="http://schemas.openxmlformats.org/drawingml/2006/main">
          <a:graphicData uri="http://schemas.openxmlformats.org/drawingml/2006/chart">
            <c:chart xmlns:c="http://schemas.openxmlformats.org/drawingml/2006/chart" r:id="rId1"/>
          </a:graphicData>
        </a:graphic>
      </p:graphicFrame>
      <p:sp>
        <p:nvSpPr>
          <p:cNvPr id="4" name="takeaway"/>
          <p:cNvSpPr/>
          <p:nvPr/>
        </p:nvSpPr>
        <p:spPr>
          <a:xfrm>
            <a:off x="8321040" y="1417320"/>
            <a:ext cx="3291840" cy="4663440"/>
          </a:xfrm>
          <a:prstGeom prst="roundRect">
            <a:avLst>
              <a:gd name="adj" fmla="val 3333"/>
            </a:avLst>
          </a:prstGeom>
          <a:solidFill>
            <a:schemeClr val="bg2"/>
          </a:solidFill>
          <a:ln w="12700">
            <a:solidFill>
              <a:schemeClr val="bg2"/>
            </a:solidFill>
            <a:prstDash val="solid"/>
          </a:ln>
        </p:spPr>
      </p:sp>
      <p:sp>
        <p:nvSpPr>
          <p:cNvPr id="5" name="Text 2"/>
          <p:cNvSpPr txBox="1"/>
          <p:nvPr/>
        </p:nvSpPr>
        <p:spPr>
          <a:xfrm>
            <a:off x="8595360" y="1645920"/>
            <a:ext cx="2743200" cy="365760"/>
          </a:xfrm>
          <a:prstGeom prst="rect">
            <a:avLst/>
          </a:prstGeom>
          <a:noFill/>
          <a:ln/>
        </p:spPr>
        <p:txBody>
          <a:bodyPr wrap="square" lIns="0" tIns="0" rIns="0" bIns="0" rtlCol="0" anchor="t"/>
          <a:lstStyle/>
          <a:p>
            <a:pPr indent="0" marL="0">
              <a:buNone/>
            </a:pPr>
            <a:r>
              <a:rPr lang="en-US" sz="1800" b="1" dirty="0">
                <a:solidFill>
                  <a:schemeClr val="tx2"/>
                </a:solidFill>
              </a:rPr>
              <a:t>Гол үр дүн</a:t>
            </a:r>
            <a:endParaRPr lang="en-US" sz="1800" dirty="0"/>
          </a:p>
        </p:txBody>
      </p:sp>
      <p:sp>
        <p:nvSpPr>
          <p:cNvPr id="6" name="Text 3"/>
          <p:cNvSpPr txBox="1"/>
          <p:nvPr/>
        </p:nvSpPr>
        <p:spPr>
          <a:xfrm>
            <a:off x="8595360" y="2148840"/>
            <a:ext cx="2788920" cy="3749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15–24: 1.5 сая → 25–44: 1.8 сая (оргил)</a:t>
            </a:r>
            <a:endParaRPr lang="en-US" sz="1500" dirty="0"/>
          </a:p>
          <a:p>
            <a:pPr marL="342900" indent="-342900">
              <a:spcAft>
                <a:spcPts val="800"/>
              </a:spcAft>
              <a:buSzPct val="100000"/>
              <a:buChar char="•"/>
            </a:pPr>
            <a:r>
              <a:rPr lang="en-US" sz="1500" dirty="0">
                <a:solidFill>
                  <a:schemeClr val="tx1"/>
                </a:solidFill>
              </a:rPr>
              <a:t>Дараа нь буурна: 65+ 1.0 сая</a:t>
            </a:r>
            <a:endParaRPr lang="en-US" sz="1500" dirty="0"/>
          </a:p>
          <a:p>
            <a:pPr marL="342900" indent="-342900">
              <a:spcAft>
                <a:spcPts val="800"/>
              </a:spcAft>
              <a:buSzPct val="100000"/>
              <a:buChar char="•"/>
            </a:pPr>
            <a:r>
              <a:rPr lang="en-US" sz="1500" dirty="0">
                <a:solidFill>
                  <a:schemeClr val="tx1"/>
                </a:solidFill>
              </a:rPr>
              <a:t>Урвуу U хэлбэр</a:t>
            </a:r>
            <a:endParaRPr lang="en-US" sz="1500" dirty="0"/>
          </a:p>
          <a:p>
            <a:pPr marL="342900" indent="-342900">
              <a:spcAft>
                <a:spcPts val="800"/>
              </a:spcAft>
              <a:buSzPct val="100000"/>
              <a:buChar char="•"/>
            </a:pPr>
            <a:r>
              <a:rPr lang="en-US" sz="1500" dirty="0">
                <a:solidFill>
                  <a:schemeClr val="tx1"/>
                </a:solidFill>
              </a:rPr>
              <a:t>65+ n=68 — найдвар багатай</a:t>
            </a:r>
            <a:endParaRPr lang="en-US" sz="1500" dirty="0"/>
          </a:p>
          <a:p>
            <a:pPr marL="342900" indent="-342900">
              <a:spcAft>
                <a:spcPts val="800"/>
              </a:spcAft>
              <a:buSzPct val="100000"/>
              <a:buChar char="•"/>
            </a:pPr>
            <a:r>
              <a:rPr lang="en-US" sz="1500" dirty="0">
                <a:solidFill>
                  <a:schemeClr val="tx1"/>
                </a:solidFill>
              </a:rPr>
              <a:t>Бүлгийн хил: шинжилгээний сонголт</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Гол үр дүн</a:t>
            </a:r>
            <a:endParaRPr lang="en-US" sz="3200" dirty="0"/>
          </a:p>
        </p:txBody>
      </p:sp>
      <p:sp>
        <p:nvSpPr>
          <p:cNvPr id="3" name="stat Ажиллах хүчний оролцоо"/>
          <p:cNvSpPr/>
          <p:nvPr/>
        </p:nvSpPr>
        <p:spPr>
          <a:xfrm>
            <a:off x="548640" y="1463040"/>
            <a:ext cx="2651760" cy="1737360"/>
          </a:xfrm>
          <a:prstGeom prst="roundRect">
            <a:avLst>
              <a:gd name="adj" fmla="val 6316"/>
            </a:avLst>
          </a:prstGeom>
          <a:solidFill>
            <a:schemeClr val="bg2"/>
          </a:solidFill>
          <a:ln w="12700">
            <a:solidFill>
              <a:schemeClr val="bg2"/>
            </a:solidFill>
            <a:prstDash val="solid"/>
          </a:ln>
        </p:spPr>
      </p:sp>
      <p:sp>
        <p:nvSpPr>
          <p:cNvPr id="4" name="Text 2"/>
          <p:cNvSpPr txBox="1"/>
          <p:nvPr/>
        </p:nvSpPr>
        <p:spPr>
          <a:xfrm>
            <a:off x="822960" y="1664208"/>
            <a:ext cx="2103120" cy="731520"/>
          </a:xfrm>
          <a:prstGeom prst="rect">
            <a:avLst/>
          </a:prstGeom>
          <a:noFill/>
          <a:ln/>
        </p:spPr>
        <p:txBody>
          <a:bodyPr wrap="square" lIns="0" tIns="0" rIns="0" bIns="0" rtlCol="0" anchor="t"/>
          <a:lstStyle/>
          <a:p>
            <a:pPr indent="0" marL="0">
              <a:buNone/>
            </a:pPr>
            <a:r>
              <a:rPr lang="en-US" sz="3600" b="1" dirty="0">
                <a:solidFill>
                  <a:schemeClr val="accent2"/>
                </a:solidFill>
                <a:latin typeface="Cambria" pitchFamily="34" charset="0"/>
                <a:ea typeface="Cambria" pitchFamily="34" charset="-122"/>
                <a:cs typeface="Cambria" pitchFamily="34" charset="-120"/>
              </a:rPr>
              <a:t>60.6%</a:t>
            </a:r>
            <a:endParaRPr lang="en-US" sz="3600" dirty="0"/>
          </a:p>
        </p:txBody>
      </p:sp>
      <p:sp>
        <p:nvSpPr>
          <p:cNvPr id="5" name="Text 3"/>
          <p:cNvSpPr txBox="1"/>
          <p:nvPr/>
        </p:nvSpPr>
        <p:spPr>
          <a:xfrm>
            <a:off x="822960" y="2377440"/>
            <a:ext cx="2103120" cy="731520"/>
          </a:xfrm>
          <a:prstGeom prst="rect">
            <a:avLst/>
          </a:prstGeom>
          <a:noFill/>
          <a:ln/>
        </p:spPr>
        <p:txBody>
          <a:bodyPr wrap="square" lIns="0" tIns="0" rIns="0" bIns="0" rtlCol="0" anchor="t"/>
          <a:lstStyle/>
          <a:p>
            <a:pPr indent="0" marL="0">
              <a:buNone/>
            </a:pPr>
            <a:r>
              <a:rPr lang="en-US" sz="1400" dirty="0">
                <a:solidFill>
                  <a:schemeClr val="accent6"/>
                </a:solidFill>
              </a:rPr>
              <a:t>Ажиллах хүчний оролцоо</a:t>
            </a:r>
            <a:endParaRPr lang="en-US" sz="1400" dirty="0"/>
          </a:p>
        </p:txBody>
      </p:sp>
      <p:sp>
        <p:nvSpPr>
          <p:cNvPr id="6" name="stat Ердийн (median) сарын цалин, төгрөг"/>
          <p:cNvSpPr/>
          <p:nvPr/>
        </p:nvSpPr>
        <p:spPr>
          <a:xfrm>
            <a:off x="3383280" y="1463040"/>
            <a:ext cx="2651760" cy="1737360"/>
          </a:xfrm>
          <a:prstGeom prst="roundRect">
            <a:avLst>
              <a:gd name="adj" fmla="val 6316"/>
            </a:avLst>
          </a:prstGeom>
          <a:solidFill>
            <a:schemeClr val="bg2"/>
          </a:solidFill>
          <a:ln w="12700">
            <a:solidFill>
              <a:schemeClr val="bg2"/>
            </a:solidFill>
            <a:prstDash val="solid"/>
          </a:ln>
        </p:spPr>
      </p:sp>
      <p:sp>
        <p:nvSpPr>
          <p:cNvPr id="7" name="Text 5"/>
          <p:cNvSpPr txBox="1"/>
          <p:nvPr/>
        </p:nvSpPr>
        <p:spPr>
          <a:xfrm>
            <a:off x="3657600" y="1664208"/>
            <a:ext cx="2103120" cy="731520"/>
          </a:xfrm>
          <a:prstGeom prst="rect">
            <a:avLst/>
          </a:prstGeom>
          <a:noFill/>
          <a:ln/>
        </p:spPr>
        <p:txBody>
          <a:bodyPr wrap="square" lIns="0" tIns="0" rIns="0" bIns="0" rtlCol="0" anchor="t"/>
          <a:lstStyle/>
          <a:p>
            <a:pPr indent="0" marL="0">
              <a:buNone/>
            </a:pPr>
            <a:r>
              <a:rPr lang="en-US" sz="3600" b="1" dirty="0">
                <a:solidFill>
                  <a:schemeClr val="tx2"/>
                </a:solidFill>
                <a:latin typeface="Cambria" pitchFamily="34" charset="0"/>
                <a:ea typeface="Cambria" pitchFamily="34" charset="-122"/>
                <a:cs typeface="Cambria" pitchFamily="34" charset="-120"/>
              </a:rPr>
              <a:t>1.7 сая</a:t>
            </a:r>
            <a:endParaRPr lang="en-US" sz="3600" dirty="0"/>
          </a:p>
        </p:txBody>
      </p:sp>
      <p:sp>
        <p:nvSpPr>
          <p:cNvPr id="8" name="Text 6"/>
          <p:cNvSpPr txBox="1"/>
          <p:nvPr/>
        </p:nvSpPr>
        <p:spPr>
          <a:xfrm>
            <a:off x="3657600" y="2377440"/>
            <a:ext cx="2103120" cy="731520"/>
          </a:xfrm>
          <a:prstGeom prst="rect">
            <a:avLst/>
          </a:prstGeom>
          <a:noFill/>
          <a:ln/>
        </p:spPr>
        <p:txBody>
          <a:bodyPr wrap="square" lIns="0" tIns="0" rIns="0" bIns="0" rtlCol="0" anchor="t"/>
          <a:lstStyle/>
          <a:p>
            <a:pPr indent="0" marL="0">
              <a:buNone/>
            </a:pPr>
            <a:r>
              <a:rPr lang="en-US" sz="1400" dirty="0">
                <a:solidFill>
                  <a:schemeClr val="accent6"/>
                </a:solidFill>
              </a:rPr>
              <a:t>Ердийн (median) сарын цалин, төгрөг</a:t>
            </a:r>
            <a:endParaRPr lang="en-US" sz="1400" dirty="0"/>
          </a:p>
        </p:txBody>
      </p:sp>
      <p:sp>
        <p:nvSpPr>
          <p:cNvPr id="9" name="stat Эмэгтэйчүүдийн median цалин"/>
          <p:cNvSpPr/>
          <p:nvPr/>
        </p:nvSpPr>
        <p:spPr>
          <a:xfrm>
            <a:off x="6217920" y="1463040"/>
            <a:ext cx="2651760" cy="1737360"/>
          </a:xfrm>
          <a:prstGeom prst="roundRect">
            <a:avLst>
              <a:gd name="adj" fmla="val 6316"/>
            </a:avLst>
          </a:prstGeom>
          <a:solidFill>
            <a:schemeClr val="bg2"/>
          </a:solidFill>
          <a:ln w="12700">
            <a:solidFill>
              <a:schemeClr val="bg2"/>
            </a:solidFill>
            <a:prstDash val="solid"/>
          </a:ln>
        </p:spPr>
      </p:sp>
      <p:sp>
        <p:nvSpPr>
          <p:cNvPr id="10" name="Text 8"/>
          <p:cNvSpPr txBox="1"/>
          <p:nvPr/>
        </p:nvSpPr>
        <p:spPr>
          <a:xfrm>
            <a:off x="6492240" y="1664208"/>
            <a:ext cx="2103120" cy="731520"/>
          </a:xfrm>
          <a:prstGeom prst="rect">
            <a:avLst/>
          </a:prstGeom>
          <a:noFill/>
          <a:ln/>
        </p:spPr>
        <p:txBody>
          <a:bodyPr wrap="square" lIns="0" tIns="0" rIns="0" bIns="0" rtlCol="0" anchor="t"/>
          <a:lstStyle/>
          <a:p>
            <a:pPr indent="0" marL="0">
              <a:buNone/>
            </a:pPr>
            <a:r>
              <a:rPr lang="en-US" sz="3600" b="1" dirty="0">
                <a:solidFill>
                  <a:schemeClr val="tx2"/>
                </a:solidFill>
                <a:latin typeface="Cambria" pitchFamily="34" charset="0"/>
                <a:ea typeface="Cambria" pitchFamily="34" charset="-122"/>
                <a:cs typeface="Cambria" pitchFamily="34" charset="-120"/>
              </a:rPr>
              <a:t>−25%</a:t>
            </a:r>
            <a:endParaRPr lang="en-US" sz="3600" dirty="0"/>
          </a:p>
        </p:txBody>
      </p:sp>
      <p:sp>
        <p:nvSpPr>
          <p:cNvPr id="11" name="Text 9"/>
          <p:cNvSpPr txBox="1"/>
          <p:nvPr/>
        </p:nvSpPr>
        <p:spPr>
          <a:xfrm>
            <a:off x="6492240" y="2377440"/>
            <a:ext cx="2103120" cy="731520"/>
          </a:xfrm>
          <a:prstGeom prst="rect">
            <a:avLst/>
          </a:prstGeom>
          <a:noFill/>
          <a:ln/>
        </p:spPr>
        <p:txBody>
          <a:bodyPr wrap="square" lIns="0" tIns="0" rIns="0" bIns="0" rtlCol="0" anchor="t"/>
          <a:lstStyle/>
          <a:p>
            <a:pPr indent="0" marL="0">
              <a:buNone/>
            </a:pPr>
            <a:r>
              <a:rPr lang="en-US" sz="1400" dirty="0">
                <a:solidFill>
                  <a:schemeClr val="accent6"/>
                </a:solidFill>
              </a:rPr>
              <a:t>Эмэгтэйчүүдийн median цалин</a:t>
            </a:r>
            <a:endParaRPr lang="en-US" sz="1400" dirty="0"/>
          </a:p>
        </p:txBody>
      </p:sp>
      <p:sp>
        <p:nvSpPr>
          <p:cNvPr id="12" name="stat Бакалавр, бүрэн дундтай харьцуулахад"/>
          <p:cNvSpPr/>
          <p:nvPr/>
        </p:nvSpPr>
        <p:spPr>
          <a:xfrm>
            <a:off x="9052560" y="1463040"/>
            <a:ext cx="2560320" cy="1737360"/>
          </a:xfrm>
          <a:prstGeom prst="roundRect">
            <a:avLst>
              <a:gd name="adj" fmla="val 6316"/>
            </a:avLst>
          </a:prstGeom>
          <a:solidFill>
            <a:schemeClr val="bg2"/>
          </a:solidFill>
          <a:ln w="12700">
            <a:solidFill>
              <a:schemeClr val="bg2"/>
            </a:solidFill>
            <a:prstDash val="solid"/>
          </a:ln>
        </p:spPr>
      </p:sp>
      <p:sp>
        <p:nvSpPr>
          <p:cNvPr id="13" name="Text 11"/>
          <p:cNvSpPr txBox="1"/>
          <p:nvPr/>
        </p:nvSpPr>
        <p:spPr>
          <a:xfrm>
            <a:off x="9326880" y="1664208"/>
            <a:ext cx="2011680" cy="731520"/>
          </a:xfrm>
          <a:prstGeom prst="rect">
            <a:avLst/>
          </a:prstGeom>
          <a:noFill/>
          <a:ln/>
        </p:spPr>
        <p:txBody>
          <a:bodyPr wrap="square" lIns="0" tIns="0" rIns="0" bIns="0" rtlCol="0" anchor="t"/>
          <a:lstStyle/>
          <a:p>
            <a:pPr indent="0" marL="0">
              <a:buNone/>
            </a:pPr>
            <a:r>
              <a:rPr lang="en-US" sz="3600" b="1" dirty="0">
                <a:solidFill>
                  <a:schemeClr val="tx2"/>
                </a:solidFill>
                <a:latin typeface="Cambria" pitchFamily="34" charset="0"/>
                <a:ea typeface="Cambria" pitchFamily="34" charset="-122"/>
                <a:cs typeface="Cambria" pitchFamily="34" charset="-120"/>
              </a:rPr>
              <a:t>+38%</a:t>
            </a:r>
            <a:endParaRPr lang="en-US" sz="3600" dirty="0"/>
          </a:p>
        </p:txBody>
      </p:sp>
      <p:sp>
        <p:nvSpPr>
          <p:cNvPr id="14" name="Text 12"/>
          <p:cNvSpPr txBox="1"/>
          <p:nvPr/>
        </p:nvSpPr>
        <p:spPr>
          <a:xfrm>
            <a:off x="9326880" y="2377440"/>
            <a:ext cx="2011680" cy="731520"/>
          </a:xfrm>
          <a:prstGeom prst="rect">
            <a:avLst/>
          </a:prstGeom>
          <a:noFill/>
          <a:ln/>
        </p:spPr>
        <p:txBody>
          <a:bodyPr wrap="square" lIns="0" tIns="0" rIns="0" bIns="0" rtlCol="0" anchor="t"/>
          <a:lstStyle/>
          <a:p>
            <a:pPr indent="0" marL="0">
              <a:buNone/>
            </a:pPr>
            <a:r>
              <a:rPr lang="en-US" sz="1400" dirty="0">
                <a:solidFill>
                  <a:schemeClr val="accent6"/>
                </a:solidFill>
              </a:rPr>
              <a:t>Бакалавр, бүрэн дундтай харьцуулахад</a:t>
            </a:r>
            <a:endParaRPr lang="en-US" sz="1400" dirty="0"/>
          </a:p>
        </p:txBody>
      </p:sp>
      <p:sp>
        <p:nvSpPr>
          <p:cNvPr id="15" name="conclusion"/>
          <p:cNvSpPr/>
          <p:nvPr/>
        </p:nvSpPr>
        <p:spPr>
          <a:xfrm>
            <a:off x="548640" y="3474720"/>
            <a:ext cx="11064240" cy="2560320"/>
          </a:xfrm>
          <a:prstGeom prst="roundRect">
            <a:avLst>
              <a:gd name="adj" fmla="val 4286"/>
            </a:avLst>
          </a:prstGeom>
          <a:solidFill>
            <a:schemeClr val="bg2"/>
          </a:solidFill>
          <a:ln w="12700">
            <a:solidFill>
              <a:schemeClr val="bg2"/>
            </a:solidFill>
            <a:prstDash val="solid"/>
          </a:ln>
        </p:spPr>
      </p:sp>
      <p:sp>
        <p:nvSpPr>
          <p:cNvPr id="16" name="Text 14"/>
          <p:cNvSpPr txBox="1"/>
          <p:nvPr/>
        </p:nvSpPr>
        <p:spPr>
          <a:xfrm>
            <a:off x="822960" y="3657600"/>
            <a:ext cx="10515600" cy="365760"/>
          </a:xfrm>
          <a:prstGeom prst="rect">
            <a:avLst/>
          </a:prstGeom>
          <a:noFill/>
          <a:ln/>
        </p:spPr>
        <p:txBody>
          <a:bodyPr wrap="square" lIns="0" tIns="0" rIns="0" bIns="0" rtlCol="0" anchor="t"/>
          <a:lstStyle/>
          <a:p>
            <a:pPr indent="0" marL="0">
              <a:buNone/>
            </a:pPr>
            <a:r>
              <a:rPr lang="en-US" sz="1800" b="1" dirty="0">
                <a:solidFill>
                  <a:schemeClr val="tx2"/>
                </a:solidFill>
              </a:rPr>
              <a:t>Дүгнэлт</a:t>
            </a:r>
            <a:endParaRPr lang="en-US" sz="1800" dirty="0"/>
          </a:p>
        </p:txBody>
      </p:sp>
      <p:sp>
        <p:nvSpPr>
          <p:cNvPr id="17" name="Text 15"/>
          <p:cNvSpPr txBox="1"/>
          <p:nvPr/>
        </p:nvSpPr>
        <p:spPr>
          <a:xfrm>
            <a:off x="822960" y="4114800"/>
            <a:ext cx="10515600" cy="1828800"/>
          </a:xfrm>
          <a:prstGeom prst="rect">
            <a:avLst/>
          </a:prstGeom>
          <a:noFill/>
          <a:ln/>
        </p:spPr>
        <p:txBody>
          <a:bodyPr wrap="square" lIns="0" tIns="0" rIns="0" bIns="0" rtlCol="0" anchor="t"/>
          <a:lstStyle/>
          <a:p>
            <a:pPr indent="0" marL="0">
              <a:buNone/>
            </a:pPr>
            <a:r>
              <a:rPr lang="en-US" sz="1600" dirty="0">
                <a:solidFill>
                  <a:schemeClr val="tx1"/>
                </a:solidFill>
              </a:rPr>
              <a:t>15+ насны 10 хүн тутмын 6 нь ажиллах хүчинд хамрагддаг. Цалинтай ажилчдын ердийн цалин 1.7 сая төгрөг бөгөөд цөөн өндөр цалин тархалтыг тэгш бус болгодог. Эмэгтэйчүүд ажиллах хүчинд бага оролцож, бага цалин авдаг нь хүйсийн ялгаа хоёр талаас илэрч байгааг харуулна.</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Хязгаарлалт ба цаашдын алхам</a:t>
            </a:r>
            <a:endParaRPr lang="en-US" sz="3200" dirty="0"/>
          </a:p>
        </p:txBody>
      </p:sp>
      <p:sp>
        <p:nvSpPr>
          <p:cNvPr id="3" name="takeaway"/>
          <p:cNvSpPr/>
          <p:nvPr/>
        </p:nvSpPr>
        <p:spPr>
          <a:xfrm>
            <a:off x="548640" y="1417320"/>
            <a:ext cx="6766560" cy="4663440"/>
          </a:xfrm>
          <a:prstGeom prst="roundRect">
            <a:avLst>
              <a:gd name="adj" fmla="val 2353"/>
            </a:avLst>
          </a:prstGeom>
          <a:solidFill>
            <a:schemeClr val="bg2"/>
          </a:solidFill>
          <a:ln w="12700">
            <a:solidFill>
              <a:schemeClr val="bg2"/>
            </a:solidFill>
            <a:prstDash val="solid"/>
          </a:ln>
        </p:spPr>
      </p:sp>
      <p:sp>
        <p:nvSpPr>
          <p:cNvPr id="4" name="Text 2"/>
          <p:cNvSpPr txBox="1"/>
          <p:nvPr/>
        </p:nvSpPr>
        <p:spPr>
          <a:xfrm>
            <a:off x="822960" y="1645920"/>
            <a:ext cx="6217920" cy="365760"/>
          </a:xfrm>
          <a:prstGeom prst="rect">
            <a:avLst/>
          </a:prstGeom>
          <a:noFill/>
          <a:ln/>
        </p:spPr>
        <p:txBody>
          <a:bodyPr wrap="square" lIns="0" tIns="0" rIns="0" bIns="0" rtlCol="0" anchor="t"/>
          <a:lstStyle/>
          <a:p>
            <a:pPr indent="0" marL="0">
              <a:buNone/>
            </a:pPr>
            <a:r>
              <a:rPr lang="en-US" sz="1800" b="1" dirty="0">
                <a:solidFill>
                  <a:schemeClr val="tx2"/>
                </a:solidFill>
              </a:rPr>
              <a:t>Хязгаарлалт</a:t>
            </a:r>
            <a:endParaRPr lang="en-US" sz="1800" dirty="0"/>
          </a:p>
        </p:txBody>
      </p:sp>
      <p:sp>
        <p:nvSpPr>
          <p:cNvPr id="5" name="Text 3"/>
          <p:cNvSpPr txBox="1"/>
          <p:nvPr/>
        </p:nvSpPr>
        <p:spPr>
          <a:xfrm>
            <a:off x="822960" y="2148840"/>
            <a:ext cx="6263640" cy="3749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Жингүй: Монгол Улсыг бүхэлд нь шууд төлөөлөхгүй</a:t>
            </a:r>
            <a:endParaRPr lang="en-US" sz="1500" dirty="0"/>
          </a:p>
          <a:p>
            <a:pPr marL="342900" indent="-342900">
              <a:spcAft>
                <a:spcPts val="800"/>
              </a:spcAft>
              <a:buSzPct val="100000"/>
              <a:buChar char="•"/>
            </a:pPr>
            <a:r>
              <a:rPr lang="en-US" sz="1500" dirty="0">
                <a:solidFill>
                  <a:schemeClr val="tx1"/>
                </a:solidFill>
              </a:rPr>
              <a:t>Зөвхөн цалин хөлстэй ажилчдын сарын цалин</a:t>
            </a:r>
            <a:endParaRPr lang="en-US" sz="1500" dirty="0"/>
          </a:p>
          <a:p>
            <a:pPr marL="342900" indent="-342900">
              <a:spcAft>
                <a:spcPts val="800"/>
              </a:spcAft>
              <a:buSzPct val="100000"/>
              <a:buChar char="•"/>
            </a:pPr>
            <a:r>
              <a:rPr lang="en-US" sz="1500" dirty="0">
                <a:solidFill>
                  <a:schemeClr val="tx1"/>
                </a:solidFill>
              </a:rPr>
              <a:t>Ялгааны шалтгааныг тогтоогоогүй (мэргэжил, ажлын цаг)</a:t>
            </a:r>
            <a:endParaRPr lang="en-US" sz="1500" dirty="0"/>
          </a:p>
          <a:p>
            <a:pPr marL="342900" indent="-342900">
              <a:spcAft>
                <a:spcPts val="800"/>
              </a:spcAft>
              <a:buSzPct val="100000"/>
              <a:buChar char="•"/>
            </a:pPr>
            <a:r>
              <a:rPr lang="en-US" sz="1500" dirty="0">
                <a:solidFill>
                  <a:schemeClr val="tx1"/>
                </a:solidFill>
              </a:rPr>
              <a:t>Мэргэжил датанд зөвхөн кодоор байгаа тул оруулаагүй</a:t>
            </a:r>
            <a:endParaRPr lang="en-US" sz="1500" dirty="0"/>
          </a:p>
          <a:p>
            <a:pPr marL="342900" indent="-342900">
              <a:spcAft>
                <a:spcPts val="800"/>
              </a:spcAft>
              <a:buSzPct val="100000"/>
              <a:buChar char="•"/>
            </a:pPr>
            <a:r>
              <a:rPr lang="en-US" sz="1500" dirty="0">
                <a:solidFill>
                  <a:schemeClr val="tx1"/>
                </a:solidFill>
              </a:rPr>
              <a:t>Доктор (n=15), 65+ (n=68) найдвар багатай</a:t>
            </a:r>
            <a:endParaRPr lang="en-US" sz="1500" dirty="0"/>
          </a:p>
        </p:txBody>
      </p:sp>
      <p:sp>
        <p:nvSpPr>
          <p:cNvPr id="6" name="takeaway"/>
          <p:cNvSpPr/>
          <p:nvPr/>
        </p:nvSpPr>
        <p:spPr>
          <a:xfrm>
            <a:off x="7589520" y="1417320"/>
            <a:ext cx="4023360" cy="4663440"/>
          </a:xfrm>
          <a:prstGeom prst="roundRect">
            <a:avLst>
              <a:gd name="adj" fmla="val 2727"/>
            </a:avLst>
          </a:prstGeom>
          <a:solidFill>
            <a:schemeClr val="bg2"/>
          </a:solidFill>
          <a:ln w="12700">
            <a:solidFill>
              <a:schemeClr val="bg2"/>
            </a:solidFill>
            <a:prstDash val="solid"/>
          </a:ln>
        </p:spPr>
      </p:sp>
      <p:sp>
        <p:nvSpPr>
          <p:cNvPr id="7" name="Text 5"/>
          <p:cNvSpPr txBox="1"/>
          <p:nvPr/>
        </p:nvSpPr>
        <p:spPr>
          <a:xfrm>
            <a:off x="7863840" y="1645920"/>
            <a:ext cx="3474720" cy="365760"/>
          </a:xfrm>
          <a:prstGeom prst="rect">
            <a:avLst/>
          </a:prstGeom>
          <a:noFill/>
          <a:ln/>
        </p:spPr>
        <p:txBody>
          <a:bodyPr wrap="square" lIns="0" tIns="0" rIns="0" bIns="0" rtlCol="0" anchor="t"/>
          <a:lstStyle/>
          <a:p>
            <a:pPr indent="0" marL="0">
              <a:buNone/>
            </a:pPr>
            <a:r>
              <a:rPr lang="en-US" sz="1800" b="1" dirty="0">
                <a:solidFill>
                  <a:schemeClr val="tx2"/>
                </a:solidFill>
              </a:rPr>
              <a:t>Цаашдын судалгаа</a:t>
            </a:r>
            <a:endParaRPr lang="en-US" sz="1800" dirty="0"/>
          </a:p>
        </p:txBody>
      </p:sp>
      <p:sp>
        <p:nvSpPr>
          <p:cNvPr id="8" name="Text 6"/>
          <p:cNvSpPr txBox="1"/>
          <p:nvPr/>
        </p:nvSpPr>
        <p:spPr>
          <a:xfrm>
            <a:off x="7863840" y="2148840"/>
            <a:ext cx="3520440" cy="3749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2023, 2024 оны АХС-тай харьцуулах</a:t>
            </a:r>
            <a:endParaRPr lang="en-US" sz="1500" dirty="0"/>
          </a:p>
          <a:p>
            <a:pPr marL="342900" indent="-342900">
              <a:spcAft>
                <a:spcPts val="800"/>
              </a:spcAft>
              <a:buSzPct val="100000"/>
              <a:buChar char="•"/>
            </a:pPr>
            <a:r>
              <a:rPr lang="en-US" sz="1500" dirty="0">
                <a:solidFill>
                  <a:schemeClr val="tx1"/>
                </a:solidFill>
              </a:rPr>
              <a:t>Жин ашиглаж улсын түвшний дүн гаргах</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LFS Teal">
  <a:themeElements>
    <a:clrScheme name="LFS Teal">
      <a:dk1>
        <a:srgbClr val="1B2B30"/>
      </a:dk1>
      <a:lt1>
        <a:srgbClr val="FFFFFF"/>
      </a:lt1>
      <a:dk2>
        <a:srgbClr val="0F4C5C"/>
      </a:dk2>
      <a:lt2>
        <a:srgbClr val="E9F1F2"/>
      </a:lt2>
      <a:accent1>
        <a:srgbClr val="0F4C5C"/>
      </a:accent1>
      <a:accent2>
        <a:srgbClr val="E36414"/>
      </a:accent2>
      <a:accent3>
        <a:srgbClr val="5F8F99"/>
      </a:accent3>
      <a:accent4>
        <a:srgbClr val="9DB9BF"/>
      </a:accent4>
      <a:accent5>
        <a:srgbClr val="FB8B24"/>
      </a:accent5>
      <a:accent6>
        <a:srgbClr val="5A6A6E"/>
      </a:accent6>
      <a:hlink>
        <a:srgbClr val="0F4C5C"/>
      </a:hlink>
      <a:folHlink>
        <a:srgbClr val="5F8F99"/>
      </a:folHlink>
    </a:clrScheme>
    <a:fontScheme name="LFS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Ажиллах хүч ба цалин 2025</dc:title>
  <dc:subject>PptxGenJS Presentation</dc:subject>
  <dc:creator>Б.Жавхлантөгс</dc:creator>
  <cp:lastModifiedBy>Б.Жавхлантөгс</cp:lastModifiedBy>
  <cp:revision>1</cp:revision>
  <dcterms:created xsi:type="dcterms:W3CDTF">2026-10-14T09:50:48Z</dcterms:created>
  <dcterms:modified xsi:type="dcterms:W3CDTF">2026-10-14T09:50:48Z</dcterms:modified>
</cp:coreProperties>
</file>